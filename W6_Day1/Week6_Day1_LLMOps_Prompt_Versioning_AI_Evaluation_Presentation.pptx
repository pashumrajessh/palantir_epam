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8210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47"/>
        </a:solidFill>
        <a:effectLst/>
      </p:bgPr>
    </p:bg>
    <p:spTree>
      <p:nvGrpSpPr>
        <p:cNvPr id="1" name=""/>
        <p:cNvGrpSpPr/>
        <p:nvPr/>
      </p:nvGrpSpPr>
      <p:grpSpPr>
        <a:xfrm>
          <a:off x="0" y="0"/>
          <a:ext cx="0" cy="0"/>
          <a:chOff x="0" y="0"/>
          <a:chExt cx="0" cy="0"/>
        </a:xfrm>
      </p:grpSpPr>
      <p:sp>
        <p:nvSpPr>
          <p:cNvPr id="2" name="Text 0"/>
          <p:cNvSpPr/>
          <p:nvPr/>
        </p:nvSpPr>
        <p:spPr>
          <a:xfrm>
            <a:off x="822960" y="1325880"/>
            <a:ext cx="7315200" cy="457200"/>
          </a:xfrm>
          <a:prstGeom prst="rect">
            <a:avLst/>
          </a:prstGeom>
          <a:noFill/>
          <a:ln/>
        </p:spPr>
        <p:txBody>
          <a:bodyPr wrap="square" rtlCol="0" anchor="ctr"/>
          <a:lstStyle/>
          <a:p>
            <a:pPr marL="0" indent="0">
              <a:buNone/>
            </a:pPr>
            <a:r>
              <a:rPr lang="en-US" sz="1400" b="1" kern="0" spc="300" dirty="0">
                <a:solidFill>
                  <a:srgbClr val="B08D57"/>
                </a:solidFill>
                <a:latin typeface="Calibri" pitchFamily="34" charset="0"/>
                <a:ea typeface="Calibri" pitchFamily="34" charset="-122"/>
                <a:cs typeface="Calibri" pitchFamily="34" charset="-120"/>
              </a:rPr>
              <a:t>WEEK 6 · DAY 1</a:t>
            </a:r>
            <a:endParaRPr lang="en-US" sz="1400" dirty="0"/>
          </a:p>
        </p:txBody>
      </p:sp>
      <p:sp>
        <p:nvSpPr>
          <p:cNvPr id="3" name="Text 1"/>
          <p:cNvSpPr/>
          <p:nvPr/>
        </p:nvSpPr>
        <p:spPr>
          <a:xfrm>
            <a:off x="777240" y="1783080"/>
            <a:ext cx="1005840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LLMOps Lifecycle &amp;</a:t>
            </a:r>
            <a:endParaRPr lang="en-US" sz="4000" dirty="0"/>
          </a:p>
        </p:txBody>
      </p:sp>
      <p:sp>
        <p:nvSpPr>
          <p:cNvPr id="4" name="Text 2"/>
          <p:cNvSpPr/>
          <p:nvPr/>
        </p:nvSpPr>
        <p:spPr>
          <a:xfrm>
            <a:off x="777240" y="2514600"/>
            <a:ext cx="9144000" cy="1005840"/>
          </a:xfrm>
          <a:prstGeom prst="rect">
            <a:avLst/>
          </a:prstGeom>
          <a:noFill/>
          <a:ln/>
        </p:spPr>
        <p:txBody>
          <a:bodyPr wrap="square" rtlCol="0" anchor="ctr"/>
          <a:lstStyle/>
          <a:p>
            <a:pPr marL="0" indent="0">
              <a:buNone/>
            </a:pPr>
            <a:r>
              <a:rPr lang="en-US" sz="4000" b="1" dirty="0">
                <a:solidFill>
                  <a:srgbClr val="2E8B8B"/>
                </a:solidFill>
                <a:latin typeface="Cambria" pitchFamily="34" charset="0"/>
                <a:ea typeface="Cambria" pitchFamily="34" charset="-122"/>
                <a:cs typeface="Cambria" pitchFamily="34" charset="-120"/>
              </a:rPr>
              <a:t>AI Evaluation</a:t>
            </a:r>
            <a:endParaRPr lang="en-US" sz="4000" dirty="0"/>
          </a:p>
        </p:txBody>
      </p:sp>
      <p:sp>
        <p:nvSpPr>
          <p:cNvPr id="5" name="Text 3"/>
          <p:cNvSpPr/>
          <p:nvPr/>
        </p:nvSpPr>
        <p:spPr>
          <a:xfrm>
            <a:off x="822960" y="3611880"/>
            <a:ext cx="9966960" cy="548640"/>
          </a:xfrm>
          <a:prstGeom prst="rect">
            <a:avLst/>
          </a:prstGeom>
          <a:noFill/>
          <a:ln/>
        </p:spPr>
        <p:txBody>
          <a:bodyPr wrap="square" rtlCol="0" anchor="ctr"/>
          <a:lstStyle/>
          <a:p>
            <a:pPr marL="0" indent="0">
              <a:buNone/>
            </a:pPr>
            <a:r>
              <a:rPr lang="en-US" sz="1700" i="1" dirty="0">
                <a:solidFill>
                  <a:srgbClr val="9AA8C9"/>
                </a:solidFill>
                <a:latin typeface="Calibri" pitchFamily="34" charset="0"/>
                <a:ea typeface="Calibri" pitchFamily="34" charset="-122"/>
                <a:cs typeface="Calibri" pitchFamily="34" charset="-120"/>
              </a:rPr>
              <a:t>Prompt Versioning, AIP Evals, and Observability — Hardening What Weeks 2–5 Built</a:t>
            </a:r>
            <a:endParaRPr lang="en-US" sz="1700" dirty="0"/>
          </a:p>
        </p:txBody>
      </p:sp>
      <p:sp>
        <p:nvSpPr>
          <p:cNvPr id="6" name="Text 4"/>
          <p:cNvSpPr/>
          <p:nvPr/>
        </p:nvSpPr>
        <p:spPr>
          <a:xfrm>
            <a:off x="822960" y="4160520"/>
            <a:ext cx="9601200" cy="365760"/>
          </a:xfrm>
          <a:prstGeom prst="rect">
            <a:avLst/>
          </a:prstGeom>
          <a:noFill/>
          <a:ln/>
        </p:spPr>
        <p:txBody>
          <a:bodyPr wrap="square" rtlCol="0" anchor="ctr"/>
          <a:lstStyle/>
          <a:p>
            <a:pPr marL="0" indent="0">
              <a:buNone/>
            </a:pPr>
            <a:r>
              <a:rPr lang="en-US" sz="1300" dirty="0">
                <a:solidFill>
                  <a:srgbClr val="9AA0A6"/>
                </a:solidFill>
                <a:latin typeface="Calibri" pitchFamily="34" charset="0"/>
                <a:ea typeface="Calibri" pitchFamily="34" charset="-122"/>
                <a:cs typeface="Calibri" pitchFamily="34" charset="-120"/>
              </a:rPr>
              <a:t>1-Hour Lecture Session — Concepts &amp; Architecture</a:t>
            </a:r>
            <a:endParaRPr lang="en-US" sz="1300" dirty="0"/>
          </a:p>
        </p:txBody>
      </p:sp>
      <p:sp>
        <p:nvSpPr>
          <p:cNvPr id="7" name="Shape 5"/>
          <p:cNvSpPr/>
          <p:nvPr/>
        </p:nvSpPr>
        <p:spPr>
          <a:xfrm>
            <a:off x="822960" y="4709160"/>
            <a:ext cx="1280160" cy="0"/>
          </a:xfrm>
          <a:prstGeom prst="line">
            <a:avLst/>
          </a:prstGeom>
          <a:noFill/>
          <a:ln w="25400">
            <a:solidFill>
              <a:srgbClr val="B08D57"/>
            </a:solidFill>
            <a:prstDash val="solid"/>
          </a:ln>
        </p:spPr>
      </p:sp>
      <p:sp>
        <p:nvSpPr>
          <p:cNvPr id="8" name="Text 6"/>
          <p:cNvSpPr/>
          <p:nvPr/>
        </p:nvSpPr>
        <p:spPr>
          <a:xfrm>
            <a:off x="822960" y="4846320"/>
            <a:ext cx="5486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Rajesh Pasham</a:t>
            </a:r>
            <a:endParaRPr lang="en-US" sz="1400" dirty="0"/>
          </a:p>
        </p:txBody>
      </p:sp>
      <p:sp>
        <p:nvSpPr>
          <p:cNvPr id="10" name="Text 8"/>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1" name="Text 9"/>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Program Context</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How today's session fits the wider 8-week delivery</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4138638104"/>
              </p:ext>
            </p:extLst>
          </p:nvPr>
        </p:nvGraphicFramePr>
        <p:xfrm>
          <a:off x="548640" y="1737360"/>
          <a:ext cx="11064240" cy="3108960"/>
        </p:xfrm>
        <a:graphic>
          <a:graphicData uri="http://schemas.openxmlformats.org/drawingml/2006/table">
            <a:tbl>
              <a:tblPr/>
              <a:tblGrid>
                <a:gridCol w="292608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7772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Session Type</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Concepts and architecture lecture</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Audience</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India and Europe batches together — this session is common to all four batches</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This Week's Focus</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Production AIP, LLMOps &amp; Governance — hardening the Copilots, chatbots, and agent workflows built in Weeks 2–5</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This Week's Deliverable (Day 3)</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A Production Readiness Package: an evaluation suite, an observability dashboard, and a release plan</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7"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Where Today Fits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From working prototypes to systems a production operation can trust</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Text 3"/>
          <p:cNvSpPr/>
          <p:nvPr/>
        </p:nvSpPr>
        <p:spPr>
          <a:xfrm>
            <a:off x="548640" y="1600200"/>
            <a:ext cx="11064240" cy="1600200"/>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Weeks 2 through 5 built things that work — a Claims Copilot that answers questions, chatbots and functions that write back to the Ontology, and agents that plan and act on their own. None of that was tested the way a production system needs to be. Week 6 is where you stop asking “does it work in the demo?” and start asking “how do we know it still works, every day, for every policyholder, and how would we know the moment it doesn't?”</a:t>
            </a:r>
            <a:endParaRPr lang="en-US" sz="1600" dirty="0"/>
          </a:p>
        </p:txBody>
      </p:sp>
      <p:sp>
        <p:nvSpPr>
          <p:cNvPr id="6" name="Shape 4"/>
          <p:cNvSpPr/>
          <p:nvPr/>
        </p:nvSpPr>
        <p:spPr>
          <a:xfrm>
            <a:off x="548640" y="3291840"/>
            <a:ext cx="11064240" cy="2514600"/>
          </a:xfrm>
          <a:prstGeom prst="roundRect">
            <a:avLst>
              <a:gd name="adj" fmla="val 2909"/>
            </a:avLst>
          </a:prstGeom>
          <a:solidFill>
            <a:srgbClr val="E6ECFB"/>
          </a:solidFill>
          <a:ln w="12700">
            <a:solidFill>
              <a:srgbClr val="D8DCE6"/>
            </a:solidFill>
            <a:prstDash val="solid"/>
          </a:ln>
        </p:spPr>
      </p:sp>
      <p:sp>
        <p:nvSpPr>
          <p:cNvPr id="7" name="Text 5"/>
          <p:cNvSpPr/>
          <p:nvPr/>
        </p:nvSpPr>
        <p:spPr>
          <a:xfrm>
            <a:off x="868680" y="3474720"/>
            <a:ext cx="10424160" cy="2194560"/>
          </a:xfrm>
          <a:prstGeom prst="rect">
            <a:avLst/>
          </a:prstGeom>
          <a:noFill/>
          <a:ln/>
        </p:spPr>
        <p:txBody>
          <a:bodyPr wrap="square" rtlCol="0" anchor="ctr"/>
          <a:lstStyle/>
          <a:p>
            <a:pPr marL="0" indent="0">
              <a:lnSpc>
                <a:spcPct val="120000"/>
              </a:lnSpc>
              <a:buNone/>
            </a:pPr>
            <a:r>
              <a:rPr lang="en-US" sz="1500" b="1" dirty="0">
                <a:solidFill>
                  <a:srgbClr val="1F3864"/>
                </a:solidFill>
                <a:latin typeface="Calibri" pitchFamily="34" charset="0"/>
                <a:ea typeface="Calibri" pitchFamily="34" charset="-122"/>
                <a:cs typeface="Calibri" pitchFamily="34" charset="-120"/>
              </a:rPr>
              <a:t>Not new theory in isolation — it is the LLM-powered systems you've already built, now held to a production bar.
</a:t>
            </a:r>
            <a:r>
              <a:rPr lang="en-US" sz="1400" dirty="0">
                <a:solidFill>
                  <a:srgbClr val="222222"/>
                </a:solidFill>
                <a:latin typeface="Calibri" pitchFamily="34" charset="0"/>
                <a:ea typeface="Calibri" pitchFamily="34" charset="-122"/>
                <a:cs typeface="Calibri" pitchFamily="34" charset="-120"/>
              </a:rPr>
              <a:t>Today's four topics — the LLMOps lifecycle, prompt versioning, model evaluation, and observability — are the first half of that bar. Tomorrow's session covers the second half: drift monitoring, cost management, release strategy, and governance. Concretely: your Batch 1 ClaimsCopilot, Batch 2 UnderwritingCopilot, Batch 3 FraudTriageCopilot, and Batch 4 ServicingCopilot — along with the FraudRiskAssessment, RiskScoreRefresh, ComplianceReadinessCheck, and CoverageRecommendationAssessment functions and chatbots you built in Week 5 — are exactly the systems today's four topics apply to. Keep yours in mind as you go; you'll use it as the worked example throughout.</a:t>
            </a:r>
            <a:endParaRPr lang="en-US" sz="15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Today's Roadmap</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Four topic groups, building toward Wednesday's Production Readiness Package</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691640"/>
            <a:ext cx="713232" cy="713232"/>
          </a:xfrm>
          <a:prstGeom prst="roundRect">
            <a:avLst>
              <a:gd name="adj" fmla="val 64103"/>
            </a:avLst>
          </a:prstGeom>
          <a:solidFill>
            <a:srgbClr val="1F3864"/>
          </a:solidFill>
          <a:ln/>
        </p:spPr>
      </p:sp>
      <p:sp>
        <p:nvSpPr>
          <p:cNvPr id="6" name="Text 4"/>
          <p:cNvSpPr/>
          <p:nvPr/>
        </p:nvSpPr>
        <p:spPr>
          <a:xfrm>
            <a:off x="548640" y="1691640"/>
            <a:ext cx="713232" cy="713232"/>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463040" y="1673352"/>
            <a:ext cx="10058400" cy="384048"/>
          </a:xfrm>
          <a:prstGeom prst="rect">
            <a:avLst/>
          </a:prstGeom>
          <a:noFill/>
          <a:ln/>
        </p:spPr>
        <p:txBody>
          <a:bodyPr wrap="square" rtlCol="0" anchor="ctr"/>
          <a:lstStyle/>
          <a:p>
            <a:pPr marL="0" indent="0">
              <a:buNone/>
            </a:pPr>
            <a:r>
              <a:rPr lang="en-US" sz="1800" b="1" dirty="0">
                <a:solidFill>
                  <a:srgbClr val="1F3864"/>
                </a:solidFill>
                <a:latin typeface="Cambria" pitchFamily="34" charset="0"/>
                <a:ea typeface="Cambria" pitchFamily="34" charset="-122"/>
                <a:cs typeface="Cambria" pitchFamily="34" charset="-120"/>
              </a:rPr>
              <a:t>The LLMOps Lifecycle</a:t>
            </a:r>
            <a:endParaRPr lang="en-US" sz="1800" dirty="0"/>
          </a:p>
        </p:txBody>
      </p:sp>
      <p:sp>
        <p:nvSpPr>
          <p:cNvPr id="8" name="Text 6"/>
          <p:cNvSpPr/>
          <p:nvPr/>
        </p:nvSpPr>
        <p:spPr>
          <a:xfrm>
            <a:off x="1463040" y="2039112"/>
            <a:ext cx="10058400" cy="548640"/>
          </a:xfrm>
          <a:prstGeom prst="rect">
            <a:avLst/>
          </a:prstGeom>
          <a:noFill/>
          <a:ln/>
        </p:spPr>
        <p:txBody>
          <a:bodyPr wrap="square" rtlCol="0" anchor="ctr"/>
          <a:lstStyle/>
          <a:p>
            <a:pPr marL="0" indent="0">
              <a:buNone/>
            </a:pPr>
            <a:r>
              <a:rPr lang="en-US" sz="1400" dirty="0">
                <a:solidFill>
                  <a:srgbClr val="5A5A5A"/>
                </a:solidFill>
                <a:latin typeface="Calibri" pitchFamily="34" charset="0"/>
                <a:ea typeface="Calibri" pitchFamily="34" charset="-122"/>
                <a:cs typeface="Calibri" pitchFamily="34" charset="-120"/>
              </a:rPr>
              <a:t>How operating an LLM-powered system differs from classical MLOps, and why continuous evaluation replaces one-time testing</a:t>
            </a:r>
            <a:endParaRPr lang="en-US" sz="1400" dirty="0"/>
          </a:p>
        </p:txBody>
      </p:sp>
      <p:sp>
        <p:nvSpPr>
          <p:cNvPr id="9" name="Shape 7"/>
          <p:cNvSpPr/>
          <p:nvPr/>
        </p:nvSpPr>
        <p:spPr>
          <a:xfrm>
            <a:off x="548640" y="2862072"/>
            <a:ext cx="713232" cy="713232"/>
          </a:xfrm>
          <a:prstGeom prst="roundRect">
            <a:avLst>
              <a:gd name="adj" fmla="val 64103"/>
            </a:avLst>
          </a:prstGeom>
          <a:solidFill>
            <a:srgbClr val="1F3864"/>
          </a:solidFill>
          <a:ln/>
        </p:spPr>
      </p:sp>
      <p:sp>
        <p:nvSpPr>
          <p:cNvPr id="10" name="Text 8"/>
          <p:cNvSpPr/>
          <p:nvPr/>
        </p:nvSpPr>
        <p:spPr>
          <a:xfrm>
            <a:off x="548640" y="2862072"/>
            <a:ext cx="713232" cy="713232"/>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1" name="Text 9"/>
          <p:cNvSpPr/>
          <p:nvPr/>
        </p:nvSpPr>
        <p:spPr>
          <a:xfrm>
            <a:off x="1463040" y="2843784"/>
            <a:ext cx="10058400" cy="384048"/>
          </a:xfrm>
          <a:prstGeom prst="rect">
            <a:avLst/>
          </a:prstGeom>
          <a:noFill/>
          <a:ln/>
        </p:spPr>
        <p:txBody>
          <a:bodyPr wrap="square" rtlCol="0" anchor="ctr"/>
          <a:lstStyle/>
          <a:p>
            <a:pPr marL="0" indent="0">
              <a:buNone/>
            </a:pPr>
            <a:r>
              <a:rPr lang="en-US" sz="1800" b="1" dirty="0">
                <a:solidFill>
                  <a:srgbClr val="1F3864"/>
                </a:solidFill>
                <a:latin typeface="Cambria" pitchFamily="34" charset="0"/>
                <a:ea typeface="Cambria" pitchFamily="34" charset="-122"/>
                <a:cs typeface="Cambria" pitchFamily="34" charset="-120"/>
              </a:rPr>
              <a:t>Prompt Versioning</a:t>
            </a:r>
            <a:endParaRPr lang="en-US" sz="1800" dirty="0"/>
          </a:p>
        </p:txBody>
      </p:sp>
      <p:sp>
        <p:nvSpPr>
          <p:cNvPr id="12" name="Text 10"/>
          <p:cNvSpPr/>
          <p:nvPr/>
        </p:nvSpPr>
        <p:spPr>
          <a:xfrm>
            <a:off x="1463040" y="3209544"/>
            <a:ext cx="10058400" cy="548640"/>
          </a:xfrm>
          <a:prstGeom prst="rect">
            <a:avLst/>
          </a:prstGeom>
          <a:noFill/>
          <a:ln/>
        </p:spPr>
        <p:txBody>
          <a:bodyPr wrap="square" rtlCol="0" anchor="ctr"/>
          <a:lstStyle/>
          <a:p>
            <a:pPr marL="0" indent="0">
              <a:buNone/>
            </a:pPr>
            <a:r>
              <a:rPr lang="en-US" sz="1400" dirty="0">
                <a:solidFill>
                  <a:srgbClr val="5A5A5A"/>
                </a:solidFill>
                <a:latin typeface="Calibri" pitchFamily="34" charset="0"/>
                <a:ea typeface="Calibri" pitchFamily="34" charset="-122"/>
                <a:cs typeface="Calibri" pitchFamily="34" charset="-120"/>
              </a:rPr>
              <a:t>Why a prompt is a first-class artifact that needs the same discipline as code, not a string buried in a function</a:t>
            </a:r>
            <a:endParaRPr lang="en-US" sz="1400" dirty="0"/>
          </a:p>
        </p:txBody>
      </p:sp>
      <p:sp>
        <p:nvSpPr>
          <p:cNvPr id="13" name="Shape 11"/>
          <p:cNvSpPr/>
          <p:nvPr/>
        </p:nvSpPr>
        <p:spPr>
          <a:xfrm>
            <a:off x="548640" y="4032504"/>
            <a:ext cx="713232" cy="713232"/>
          </a:xfrm>
          <a:prstGeom prst="roundRect">
            <a:avLst>
              <a:gd name="adj" fmla="val 64103"/>
            </a:avLst>
          </a:prstGeom>
          <a:solidFill>
            <a:srgbClr val="1F3864"/>
          </a:solidFill>
          <a:ln/>
        </p:spPr>
      </p:sp>
      <p:sp>
        <p:nvSpPr>
          <p:cNvPr id="14" name="Text 12"/>
          <p:cNvSpPr/>
          <p:nvPr/>
        </p:nvSpPr>
        <p:spPr>
          <a:xfrm>
            <a:off x="548640" y="4032504"/>
            <a:ext cx="713232" cy="713232"/>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5" name="Text 13"/>
          <p:cNvSpPr/>
          <p:nvPr/>
        </p:nvSpPr>
        <p:spPr>
          <a:xfrm>
            <a:off x="1463040" y="4014216"/>
            <a:ext cx="10058400" cy="384048"/>
          </a:xfrm>
          <a:prstGeom prst="rect">
            <a:avLst/>
          </a:prstGeom>
          <a:noFill/>
          <a:ln/>
        </p:spPr>
        <p:txBody>
          <a:bodyPr wrap="square" rtlCol="0" anchor="ctr"/>
          <a:lstStyle/>
          <a:p>
            <a:pPr marL="0" indent="0">
              <a:buNone/>
            </a:pPr>
            <a:r>
              <a:rPr lang="en-US" sz="1800" b="1" dirty="0">
                <a:solidFill>
                  <a:srgbClr val="1F3864"/>
                </a:solidFill>
                <a:latin typeface="Cambria" pitchFamily="34" charset="0"/>
                <a:ea typeface="Cambria" pitchFamily="34" charset="-122"/>
                <a:cs typeface="Cambria" pitchFamily="34" charset="-120"/>
              </a:rPr>
              <a:t>Model Evaluation with AIP Evals</a:t>
            </a:r>
            <a:endParaRPr lang="en-US" sz="1800" dirty="0"/>
          </a:p>
        </p:txBody>
      </p:sp>
      <p:sp>
        <p:nvSpPr>
          <p:cNvPr id="16" name="Text 14"/>
          <p:cNvSpPr/>
          <p:nvPr/>
        </p:nvSpPr>
        <p:spPr>
          <a:xfrm>
            <a:off x="1463040" y="4379976"/>
            <a:ext cx="10058400" cy="548640"/>
          </a:xfrm>
          <a:prstGeom prst="rect">
            <a:avLst/>
          </a:prstGeom>
          <a:noFill/>
          <a:ln/>
        </p:spPr>
        <p:txBody>
          <a:bodyPr wrap="square" rtlCol="0" anchor="ctr"/>
          <a:lstStyle/>
          <a:p>
            <a:pPr marL="0" indent="0">
              <a:buNone/>
            </a:pPr>
            <a:r>
              <a:rPr lang="en-US" sz="1400" dirty="0">
                <a:solidFill>
                  <a:srgbClr val="5A5A5A"/>
                </a:solidFill>
                <a:latin typeface="Calibri" pitchFamily="34" charset="0"/>
                <a:ea typeface="Calibri" pitchFamily="34" charset="-122"/>
                <a:cs typeface="Calibri" pitchFamily="34" charset="-120"/>
              </a:rPr>
              <a:t>Evaluation Suites, Target Functions, Evaluation Functions, Test Cases, and Metrics — applied to a function you've already built</a:t>
            </a:r>
            <a:endParaRPr lang="en-US" sz="1400" dirty="0"/>
          </a:p>
        </p:txBody>
      </p:sp>
      <p:sp>
        <p:nvSpPr>
          <p:cNvPr id="17" name="Shape 15"/>
          <p:cNvSpPr/>
          <p:nvPr/>
        </p:nvSpPr>
        <p:spPr>
          <a:xfrm>
            <a:off x="548640" y="5202936"/>
            <a:ext cx="713232" cy="713232"/>
          </a:xfrm>
          <a:prstGeom prst="roundRect">
            <a:avLst>
              <a:gd name="adj" fmla="val 64103"/>
            </a:avLst>
          </a:prstGeom>
          <a:solidFill>
            <a:srgbClr val="1F3864"/>
          </a:solidFill>
          <a:ln/>
        </p:spPr>
      </p:sp>
      <p:sp>
        <p:nvSpPr>
          <p:cNvPr id="18" name="Text 16"/>
          <p:cNvSpPr/>
          <p:nvPr/>
        </p:nvSpPr>
        <p:spPr>
          <a:xfrm>
            <a:off x="548640" y="5202936"/>
            <a:ext cx="713232" cy="713232"/>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9" name="Text 17"/>
          <p:cNvSpPr/>
          <p:nvPr/>
        </p:nvSpPr>
        <p:spPr>
          <a:xfrm>
            <a:off x="1463040" y="5184648"/>
            <a:ext cx="10058400" cy="384048"/>
          </a:xfrm>
          <a:prstGeom prst="rect">
            <a:avLst/>
          </a:prstGeom>
          <a:noFill/>
          <a:ln/>
        </p:spPr>
        <p:txBody>
          <a:bodyPr wrap="square" rtlCol="0" anchor="ctr"/>
          <a:lstStyle/>
          <a:p>
            <a:pPr marL="0" indent="0">
              <a:buNone/>
            </a:pPr>
            <a:r>
              <a:rPr lang="en-US" sz="1800" b="1" dirty="0">
                <a:solidFill>
                  <a:srgbClr val="1F3864"/>
                </a:solidFill>
                <a:latin typeface="Cambria" pitchFamily="34" charset="0"/>
                <a:ea typeface="Cambria" pitchFamily="34" charset="-122"/>
                <a:cs typeface="Cambria" pitchFamily="34" charset="-120"/>
              </a:rPr>
              <a:t>AI Observability</a:t>
            </a:r>
            <a:endParaRPr lang="en-US" sz="1800" dirty="0"/>
          </a:p>
        </p:txBody>
      </p:sp>
      <p:sp>
        <p:nvSpPr>
          <p:cNvPr id="20" name="Text 18"/>
          <p:cNvSpPr/>
          <p:nvPr/>
        </p:nvSpPr>
        <p:spPr>
          <a:xfrm>
            <a:off x="1463040" y="5550408"/>
            <a:ext cx="10058400" cy="548640"/>
          </a:xfrm>
          <a:prstGeom prst="rect">
            <a:avLst/>
          </a:prstGeom>
          <a:noFill/>
          <a:ln/>
        </p:spPr>
        <p:txBody>
          <a:bodyPr wrap="square" rtlCol="0" anchor="ctr"/>
          <a:lstStyle/>
          <a:p>
            <a:pPr marL="0" indent="0">
              <a:buNone/>
            </a:pPr>
            <a:r>
              <a:rPr lang="en-US" sz="1400" dirty="0">
                <a:solidFill>
                  <a:srgbClr val="5A5A5A"/>
                </a:solidFill>
                <a:latin typeface="Calibri" pitchFamily="34" charset="0"/>
                <a:ea typeface="Calibri" pitchFamily="34" charset="-122"/>
                <a:cs typeface="Calibri" pitchFamily="34" charset="-120"/>
              </a:rPr>
              <a:t>Monitoring, debugging, and analysis for LLM-powered functions and chatbots already running in your Ontology</a:t>
            </a:r>
            <a:endParaRPr lang="en-US" sz="1400" dirty="0"/>
          </a:p>
        </p:txBody>
      </p:sp>
      <p:sp>
        <p:nvSpPr>
          <p:cNvPr id="21" name="Text 1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22" name="Text 2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By the End of Today</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vocabulary Wednesday's self-paced build assumes</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Text 3"/>
          <p:cNvSpPr/>
          <p:nvPr/>
        </p:nvSpPr>
        <p:spPr>
          <a:xfrm>
            <a:off x="594360" y="1737360"/>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6" name="Text 4"/>
          <p:cNvSpPr/>
          <p:nvPr/>
        </p:nvSpPr>
        <p:spPr>
          <a:xfrm>
            <a:off x="1051560" y="1719072"/>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Explain the LLMOps lifecycle and how it differs from classical MLOps</a:t>
            </a:r>
            <a:endParaRPr lang="en-US" sz="1700" dirty="0"/>
          </a:p>
        </p:txBody>
      </p:sp>
      <p:sp>
        <p:nvSpPr>
          <p:cNvPr id="7" name="Text 5"/>
          <p:cNvSpPr/>
          <p:nvPr/>
        </p:nvSpPr>
        <p:spPr>
          <a:xfrm>
            <a:off x="1051560" y="2212848"/>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Why prompts, non-determinism, and continuous evaluation change the operating model</a:t>
            </a:r>
            <a:endParaRPr lang="en-US" sz="1400" dirty="0"/>
          </a:p>
        </p:txBody>
      </p:sp>
      <p:sp>
        <p:nvSpPr>
          <p:cNvPr id="8" name="Text 6"/>
          <p:cNvSpPr/>
          <p:nvPr/>
        </p:nvSpPr>
        <p:spPr>
          <a:xfrm>
            <a:off x="594360" y="3297936"/>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9" name="Text 7"/>
          <p:cNvSpPr/>
          <p:nvPr/>
        </p:nvSpPr>
        <p:spPr>
          <a:xfrm>
            <a:off x="1051560" y="3279648"/>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Explain why prompts require version control discipline</a:t>
            </a:r>
            <a:endParaRPr lang="en-US" sz="1700" dirty="0"/>
          </a:p>
        </p:txBody>
      </p:sp>
      <p:sp>
        <p:nvSpPr>
          <p:cNvPr id="10" name="Text 8"/>
          <p:cNvSpPr/>
          <p:nvPr/>
        </p:nvSpPr>
        <p:spPr>
          <a:xfrm>
            <a:off x="1051560" y="3773424"/>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And how prompt versioning connects to the system/task prompts built into Week 5's chatbots and functions</a:t>
            </a:r>
            <a:endParaRPr lang="en-US" sz="1400" dirty="0"/>
          </a:p>
        </p:txBody>
      </p:sp>
      <p:sp>
        <p:nvSpPr>
          <p:cNvPr id="11" name="Text 9"/>
          <p:cNvSpPr/>
          <p:nvPr/>
        </p:nvSpPr>
        <p:spPr>
          <a:xfrm>
            <a:off x="594360" y="4858512"/>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12" name="Text 10"/>
          <p:cNvSpPr/>
          <p:nvPr/>
        </p:nvSpPr>
        <p:spPr>
          <a:xfrm>
            <a:off x="1051560" y="4840224"/>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Describe the core concepts behind AIP Evals</a:t>
            </a:r>
            <a:endParaRPr lang="en-US" sz="1700" dirty="0"/>
          </a:p>
        </p:txBody>
      </p:sp>
      <p:sp>
        <p:nvSpPr>
          <p:cNvPr id="13" name="Text 11"/>
          <p:cNvSpPr/>
          <p:nvPr/>
        </p:nvSpPr>
        <p:spPr>
          <a:xfrm>
            <a:off x="1051560" y="5334000"/>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Evaluation Suite, Target Function, Evaluation Function, Test Cases, and Metrics</a:t>
            </a:r>
            <a:endParaRPr lang="en-US" sz="14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By the End of Today</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vocabulary Wednesday's self-paced build assumes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Text 3"/>
          <p:cNvSpPr/>
          <p:nvPr/>
        </p:nvSpPr>
        <p:spPr>
          <a:xfrm>
            <a:off x="594360" y="1737360"/>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6" name="Text 4"/>
          <p:cNvSpPr/>
          <p:nvPr/>
        </p:nvSpPr>
        <p:spPr>
          <a:xfrm>
            <a:off x="1051560" y="1719072"/>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Apply those concepts to a function or chatbot you've already built</a:t>
            </a:r>
            <a:endParaRPr lang="en-US" sz="1700" dirty="0"/>
          </a:p>
        </p:txBody>
      </p:sp>
      <p:sp>
        <p:nvSpPr>
          <p:cNvPr id="7" name="Text 5"/>
          <p:cNvSpPr/>
          <p:nvPr/>
        </p:nvSpPr>
        <p:spPr>
          <a:xfrm>
            <a:off x="1051560" y="2212848"/>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Framing an evaluation plan for one of your program's existing use cases</a:t>
            </a:r>
            <a:endParaRPr lang="en-US" sz="1400" dirty="0"/>
          </a:p>
        </p:txBody>
      </p:sp>
      <p:sp>
        <p:nvSpPr>
          <p:cNvPr id="8" name="Text 6"/>
          <p:cNvSpPr/>
          <p:nvPr/>
        </p:nvSpPr>
        <p:spPr>
          <a:xfrm>
            <a:off x="594360" y="3297936"/>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9" name="Text 7"/>
          <p:cNvSpPr/>
          <p:nvPr/>
        </p:nvSpPr>
        <p:spPr>
          <a:xfrm>
            <a:off x="1051560" y="3279648"/>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Describe what Monitoring, Debugging, and Analysis each cover in Foundry Observability</a:t>
            </a:r>
            <a:endParaRPr lang="en-US" sz="1700" dirty="0"/>
          </a:p>
        </p:txBody>
      </p:sp>
      <p:sp>
        <p:nvSpPr>
          <p:cNvPr id="10" name="Text 8"/>
          <p:cNvSpPr/>
          <p:nvPr/>
        </p:nvSpPr>
        <p:spPr>
          <a:xfrm>
            <a:off x="1051560" y="3773424"/>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And how they apply to the LLM-powered systems already running in your Ontology</a:t>
            </a:r>
            <a:endParaRPr lang="en-US" sz="1400" dirty="0"/>
          </a:p>
        </p:txBody>
      </p:sp>
      <p:sp>
        <p:nvSpPr>
          <p:cNvPr id="11" name="Text 9"/>
          <p:cNvSpPr/>
          <p:nvPr/>
        </p:nvSpPr>
        <p:spPr>
          <a:xfrm>
            <a:off x="594360" y="4858512"/>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12" name="Text 10"/>
          <p:cNvSpPr/>
          <p:nvPr/>
        </p:nvSpPr>
        <p:spPr>
          <a:xfrm>
            <a:off x="1051560" y="4840224"/>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Preview Day 2 and the Week 6 deliverable</a:t>
            </a:r>
            <a:endParaRPr lang="en-US" sz="1700" dirty="0"/>
          </a:p>
        </p:txBody>
      </p:sp>
      <p:sp>
        <p:nvSpPr>
          <p:cNvPr id="13" name="Text 11"/>
          <p:cNvSpPr/>
          <p:nvPr/>
        </p:nvSpPr>
        <p:spPr>
          <a:xfrm>
            <a:off x="1051560" y="5334000"/>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So Wednesday's self-paced build starts from a shared vocabulary, not a blank page</a:t>
            </a:r>
            <a:endParaRPr lang="en-US" sz="14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822960" y="2331720"/>
            <a:ext cx="5486400" cy="45720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TOPIC 1</a:t>
            </a:r>
            <a:endParaRPr lang="en-US" sz="1500" dirty="0"/>
          </a:p>
        </p:txBody>
      </p:sp>
      <p:sp>
        <p:nvSpPr>
          <p:cNvPr id="3" name="Text 1"/>
          <p:cNvSpPr/>
          <p:nvPr/>
        </p:nvSpPr>
        <p:spPr>
          <a:xfrm>
            <a:off x="822960" y="2788920"/>
            <a:ext cx="1051560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The LLMOps Lifecycle</a:t>
            </a:r>
            <a:endParaRPr lang="en-US" sz="3400" dirty="0"/>
          </a:p>
        </p:txBody>
      </p:sp>
      <p:sp>
        <p:nvSpPr>
          <p:cNvPr id="4" name="Text 2"/>
          <p:cNvSpPr/>
          <p:nvPr/>
        </p:nvSpPr>
        <p:spPr>
          <a:xfrm>
            <a:off x="822960" y="3703320"/>
            <a:ext cx="987552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How operating an LLM-powered system differs from classical MLOps</a:t>
            </a:r>
            <a:endParaRPr lang="en-US" sz="16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From MLOps to LLMOps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 familiar discipline, applied to a very different kind of model</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Classical MLOps assumes a deterministic, numeric model</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fraud-scoring model trained on structured data gives the same score for the same input, every time. Your own RiskScoreRefresh function (Batch 2) has exactly this kind of piece inside it — the riskScoreStale check is a plain deterministic calculation, which is why it was never built as a Use LLM block.</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An LLM-powered function does not give that guarantee</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same prompt, sent to the same model, can return a differently worded — or differently reasoned — response on two separate calls. Feed your Batch 1 ClaimsCopilot the same claim narrative twice and its summary wording can legitimately differ both times — that is the non-determinism this week's evaluation discipline exists to manage.</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From MLOps to LLMOps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 familiar discipline, applied to a very different kind of model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The unit of operation changes too</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Classical MLOps versions a trained model artifact. LLMOps versions a model choice, a prompt, and the tools a function or chatbot can call. Your Batch 3 Compliance Chatbot is a visible example: its model choice, its system prompt, and its access to the ComplianceReadinessCheck and SubmitComplianceReview tools are three separate things that each need to be tracked, not one.</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What the LLMOps Lifecycle Actually Covers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 continuous loop, not a one-time deployment checklist</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Build</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AIP Logic functions and AIP Chatbot Studio chatbots you've been building since Week 2 — prompts, tool access, and model selection, authored and iterated. Your Batch 1 FraudRiskAssessment function and Fraud Detection Chatbot are a concrete instance of this stage: a Use LLM fraud-judgment block wired to an OpenInvestigation tool.</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Evaluate</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Testing behavior against defined test cases before and after any change — covered in depth later today through AIP Evals. The Evaluation Suite requirement on your Batch 2 RiskScoreRefresh function (3+ Test Cases before it counts as done) is this stage in practice, not theory.</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What the LLMOps Lifecycle Actually Covers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 continuous loop, not a one-time deployment checklist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Observe &amp; Operate</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Monitoring behavior once a function or chatbot is in live use, catching regressions and failures quickly. Opening your Batch 3 Compliance Chatbot's own Monitoring tab to confirm it actually called ComplianceReadinessCheck is a small, real example of this — today's Observability topic, with drift and cost covered tomorrow.</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Govern &amp; Release</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Controlled rollout of changes, audit trails, and responsible-AI guardrails. The confirmation-required setting on your Batch 4 EscalateForCoverageRecommendation Action — a person must approve it before it writes to the Ontology — is already a governance control you built, not a future one. Day 2's focus, previewed briefly at the end of today.</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Classical MLOps vs. LLMOps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same operational discipline, applied to a fundamentally different kind of artifact</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2407920"/>
        </p:xfrm>
        <a:graphic>
          <a:graphicData uri="http://schemas.openxmlformats.org/drawingml/2006/table">
            <a:tbl>
              <a:tblPr/>
              <a:tblGrid>
                <a:gridCol w="21945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Dimension</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Classical MLOps</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LLMOps</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What's versioned</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A trained model artifact</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A model choice, a prompt, and the tools it can call</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0">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Determinism</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Same input → same output, reliably</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Same input can produce different output — non-determinism is expected</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Testing cadence</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Validate once against a held-out dataset before release</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Continuous evaluation — after every prompt change, model update, or tool change</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0">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What “drift” means</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The input data distribution shifts over time</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Output quality or behavior can shift even with no visible input change</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Primary new artifact</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Training data and model weights</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The prompt — now reviewed, versioned, and tested like code</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bl>
          </a:graphicData>
        </a:graphic>
      </p:graphicFrame>
      <p:sp>
        <p:nvSpPr>
          <p:cNvPr id="6"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7"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Classical MLOps vs. LLMOps — In Your Own Systems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same five dimensions, grounded in functions and chatbots you've already built</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What's versioned</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Your Batch 4 CoverageRecommendationAssessment function bundles a model choice, a recommendation-judgment prompt, and access to the EscalateForCoverageRecommendation tool — that bundle, not a single model file, is what now has to be versioned together.</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Determinism</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Run your Batch 1 ClaimsCopilot on the same claim narrative twice and expect the wording to vary slightly — that variability is normal for an LLM-powered function in a way it would never be for a classical scoring model.</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Classical MLOps vs. LLMOps — In Your Own Systems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same five dimensions, grounded in functions and chatbots you've already built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Testing cadence</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Test Case for FraudRiskAssessment (Batch 1) — claimAmount = 48,000, isHighValueClaim = true, expected recommendedFraudAction = OpenInvestigation — needs to be re-run every time the function's prompt or model changes, not just once before go-live.</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What “drift” means</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Your Batch 2 RiskScoreRefresh function's judgment can shift after a platform-level model update even though riskScoreStale's inputs and logic never changed — that is LLM drift, distinct from the input-distribution drift classical MLOps watches for.</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Classical MLOps vs. LLMOps — In Your Own Systems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same five dimensions, grounded in functions and chatbots you've already built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Primary new artifact</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system prompt inside your Batch 3 Compliance Chatbot — the text instructing it to weigh evidenceType coverage and missingEvidence before calling ComplianceReadinessCheck — is now a reviewed, versioned artifact in its own right, the same way a training script would be in classical MLOps.</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Continuous Evaluation Replaces One-Time Testing</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 test suite run once at launch answers a question that keeps changing</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The model underneath can change</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platform-level model update can shift how a prompt is interpreted, even when nothing in your function or chatbot changed at all — including the Use LLM risk-judgment block inside your Batch 2 RiskScoreRefresh function, whose deterministic riskScoreStale calculation would stay identical while its judgment output quietly shifts.</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The prompt itself changes over time</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system or task prompt refined after user feedback is a new artifact — it needs the same evaluation the original version had, not an assumption that “it still works.” The instructions inside your Batch 3 Compliance Chatbot's system prompt are exactly this kind of artifact once someone edits them.</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Continuous Evaluation Replaces One-Time Testing</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 test suite run once at launch answers a question that keeps changing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Non-determinism means one passing run isn't proof</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Because the same input can produce different outputs across calls, a single successful test run is weaker evidence than it would be for a deterministic model. This is why the Evaluation Suite built for your Batch 1 FraudRiskAssessment function is required to carry 3+ Test Cases and get run repeatedly — one pass proves far less than it would for a classical model.</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822960" y="2331720"/>
            <a:ext cx="5486400" cy="45720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TOPIC 2</a:t>
            </a:r>
            <a:endParaRPr lang="en-US" sz="1500" dirty="0"/>
          </a:p>
        </p:txBody>
      </p:sp>
      <p:sp>
        <p:nvSpPr>
          <p:cNvPr id="3" name="Text 1"/>
          <p:cNvSpPr/>
          <p:nvPr/>
        </p:nvSpPr>
        <p:spPr>
          <a:xfrm>
            <a:off x="822960" y="2788920"/>
            <a:ext cx="1051560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Prompt Versioning</a:t>
            </a:r>
            <a:endParaRPr lang="en-US" sz="3400" dirty="0"/>
          </a:p>
        </p:txBody>
      </p:sp>
      <p:sp>
        <p:nvSpPr>
          <p:cNvPr id="4" name="Text 2"/>
          <p:cNvSpPr/>
          <p:nvPr/>
        </p:nvSpPr>
        <p:spPr>
          <a:xfrm>
            <a:off x="822960" y="3703320"/>
            <a:ext cx="987552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Why a prompt needs the same discipline as code</a:t>
            </a:r>
            <a:endParaRPr lang="en-US" sz="16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The Prompt Is a First-Class Artifact</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Not a string buried inside a function — a piece of the system that deserves its own history</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Recall Week 5's system and task prompts</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Every chatbot built in AIP Chatbot Studio, and every AIP Logic function using a Use LLM block, is shaped as much by its prompt as by the model behind it. Your Batch 2 Underwriting Chatbot's system prompt — describing its persona, scope, and the rule to call UnderwritingDecisionReasoning before InvokeRiskAssessmentChatbot — is doing as much work as the model choice underneath it.</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 prompt change is a behavior change</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Editing a task prompt's wording, tone, or instructions changes what the function or chatbot does. If someone loosened the instruction inside your Batch 3 Fraud Detection Chatbot's system prompt that it "never states a fraud read without having called [its] tool," the chatbot could start guessing — the same category of change a code edit would be, and it deserves the same scrutiny.</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The Prompt Is a First-Class Artifact</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Not a string buried inside a function — a piece of the system that deserves its own history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Without versioning, a regression is invisible until a user notices</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If nobody recorded what the prompt said last week, there is no way to confirm whether this week's change caused a complaint — or to revert to the version that worked. A silent edit to your Batch 4 Customer Support Chatbot's escalation rule, with no record of the prior wording, is exactly this risk.</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What Good Prompt Versioning Looks Like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same habits you already apply to code, applied to prompt text</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Every meaningful edit is a new, labeled version</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Not a silent overwrite — a record of what changed, when, and by whom, the same way a commit records a code change. This is the same discipline the lab walkthroughs apply when they ask you to Publish FraudRiskAssessment's (Batch 1) final version only after a deliberate change, rather than overwriting it mid-edit.</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 version is tied to the evaluation results it produced</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Each prompt version should be traceable to the AIP Evals run that validated it — so “this is the version we approved” is a verifiable claim, not a memory. The 3+ Test Cases required for CoverageRecommendationAssessment (Batch 4) are what that specific published version was actually checked against.</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What Good Prompt Versioning Looks Like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same habits you already apply to code, applied to prompt text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Rollback is a real, exercised option</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If a new prompt version underperforms once live, reverting to the last known-good version should be fast and unambiguous. If a revised judgment prompt inside your Batch 2 RiskScoreRefresh function started mis-scoring stale risk reads, a recorded prior version is what makes reverting a two-minute fix instead of a reconstruction project.</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Prompt Versioning in Practice: A Chatbot Example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Tracing one prompt change through your Batch 4 Customer Support Chatbot, from idea to validated release</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2225040"/>
            <a:ext cx="502920" cy="502920"/>
          </a:xfrm>
          <a:prstGeom prst="roundRect">
            <a:avLst>
              <a:gd name="adj" fmla="val 50909"/>
            </a:avLst>
          </a:prstGeom>
          <a:solidFill>
            <a:srgbClr val="2E8B8B"/>
          </a:solidFill>
          <a:ln/>
        </p:spPr>
      </p:sp>
      <p:sp>
        <p:nvSpPr>
          <p:cNvPr id="6" name="Text 4"/>
          <p:cNvSpPr/>
          <p:nvPr/>
        </p:nvSpPr>
        <p:spPr>
          <a:xfrm>
            <a:off x="548640" y="222504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234440" y="169164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The Customer Support Chatbot's task prompt is edited to handle a new retention-offer scenario</a:t>
            </a:r>
            <a:endParaRPr lang="en-US" sz="1600" dirty="0"/>
          </a:p>
        </p:txBody>
      </p:sp>
      <p:sp>
        <p:nvSpPr>
          <p:cNvPr id="8" name="Text 6"/>
          <p:cNvSpPr/>
          <p:nvPr/>
        </p:nvSpPr>
        <p:spPr>
          <a:xfrm>
            <a:off x="1234440" y="207568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The change — tightening when it should hand off to the Policy Recommendation Chatbot via EscalateForCoverageRecommendation — is written up as a new version, not applied silently over the previous wording.</a:t>
            </a:r>
            <a:endParaRPr lang="en-US" sz="1400" dirty="0"/>
          </a:p>
        </p:txBody>
      </p:sp>
      <p:sp>
        <p:nvSpPr>
          <p:cNvPr id="9" name="Shape 7"/>
          <p:cNvSpPr/>
          <p:nvPr/>
        </p:nvSpPr>
        <p:spPr>
          <a:xfrm>
            <a:off x="548640" y="3794760"/>
            <a:ext cx="502920" cy="502920"/>
          </a:xfrm>
          <a:prstGeom prst="roundRect">
            <a:avLst>
              <a:gd name="adj" fmla="val 50909"/>
            </a:avLst>
          </a:prstGeom>
          <a:solidFill>
            <a:srgbClr val="2E8B8B"/>
          </a:solidFill>
          <a:ln/>
        </p:spPr>
      </p:sp>
      <p:sp>
        <p:nvSpPr>
          <p:cNvPr id="10" name="Text 8"/>
          <p:cNvSpPr/>
          <p:nvPr/>
        </p:nvSpPr>
        <p:spPr>
          <a:xfrm>
            <a:off x="548640" y="379476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1" name="Text 9"/>
          <p:cNvSpPr/>
          <p:nvPr/>
        </p:nvSpPr>
        <p:spPr>
          <a:xfrm>
            <a:off x="1234440" y="326136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The new version is run through its Evaluation Suite before anything else happens</a:t>
            </a:r>
            <a:endParaRPr lang="en-US" sz="1600" dirty="0"/>
          </a:p>
        </p:txBody>
      </p:sp>
      <p:sp>
        <p:nvSpPr>
          <p:cNvPr id="12" name="Text 10"/>
          <p:cNvSpPr/>
          <p:nvPr/>
        </p:nvSpPr>
        <p:spPr>
          <a:xfrm>
            <a:off x="1234440" y="364540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The same test cases used to validate the prior version, plus new ones covering the retention-offer handoff, including a case like POL268's Renewal REN031.</a:t>
            </a:r>
            <a:endParaRPr lang="en-US" sz="1400" dirty="0"/>
          </a:p>
        </p:txBody>
      </p:sp>
      <p:sp>
        <p:nvSpPr>
          <p:cNvPr id="13" name="Shape 11"/>
          <p:cNvSpPr/>
          <p:nvPr/>
        </p:nvSpPr>
        <p:spPr>
          <a:xfrm>
            <a:off x="548640" y="5364480"/>
            <a:ext cx="502920" cy="502920"/>
          </a:xfrm>
          <a:prstGeom prst="roundRect">
            <a:avLst>
              <a:gd name="adj" fmla="val 50909"/>
            </a:avLst>
          </a:prstGeom>
          <a:solidFill>
            <a:srgbClr val="2E8B8B"/>
          </a:solidFill>
          <a:ln/>
        </p:spPr>
      </p:sp>
      <p:sp>
        <p:nvSpPr>
          <p:cNvPr id="14" name="Text 12"/>
          <p:cNvSpPr/>
          <p:nvPr/>
        </p:nvSpPr>
        <p:spPr>
          <a:xfrm>
            <a:off x="548640" y="536448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5" name="Text 13"/>
          <p:cNvSpPr/>
          <p:nvPr/>
        </p:nvSpPr>
        <p:spPr>
          <a:xfrm>
            <a:off x="1234440" y="483108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Metrics from the new version are compared against the prior version's</a:t>
            </a:r>
            <a:endParaRPr lang="en-US" sz="1600" dirty="0"/>
          </a:p>
        </p:txBody>
      </p:sp>
      <p:sp>
        <p:nvSpPr>
          <p:cNvPr id="16" name="Text 14"/>
          <p:cNvSpPr/>
          <p:nvPr/>
        </p:nvSpPr>
        <p:spPr>
          <a:xfrm>
            <a:off x="1234440" y="521512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Not just “does it pass” — whether accuracy and tone metrics hold steady or improve on the existing test cases, and whether the handoff to CoverageRecommendationAssessment still fires at the right moments.</a:t>
            </a:r>
            <a:endParaRPr lang="en-US" sz="1400" dirty="0"/>
          </a:p>
        </p:txBody>
      </p:sp>
      <p:sp>
        <p:nvSpPr>
          <p:cNvPr id="17" name="Text 15"/>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8"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Prompt Versioning in Practice: A Chatbot Example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Tracing one prompt change through your Batch 4 Customer Support Chatbot, from idea to validated release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3794760"/>
            <a:ext cx="502920" cy="502920"/>
          </a:xfrm>
          <a:prstGeom prst="roundRect">
            <a:avLst>
              <a:gd name="adj" fmla="val 50909"/>
            </a:avLst>
          </a:prstGeom>
          <a:solidFill>
            <a:srgbClr val="2E8B8B"/>
          </a:solidFill>
          <a:ln/>
        </p:spPr>
      </p:sp>
      <p:sp>
        <p:nvSpPr>
          <p:cNvPr id="6" name="Text 4"/>
          <p:cNvSpPr/>
          <p:nvPr/>
        </p:nvSpPr>
        <p:spPr>
          <a:xfrm>
            <a:off x="548640" y="379476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7" name="Text 5"/>
          <p:cNvSpPr/>
          <p:nvPr/>
        </p:nvSpPr>
        <p:spPr>
          <a:xfrm>
            <a:off x="1234440" y="169164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Only once Metrics are acceptable does the new version replace the old one in production</a:t>
            </a:r>
            <a:endParaRPr lang="en-US" sz="1600" dirty="0"/>
          </a:p>
        </p:txBody>
      </p:sp>
      <p:sp>
        <p:nvSpPr>
          <p:cNvPr id="8" name="Text 6"/>
          <p:cNvSpPr/>
          <p:nvPr/>
        </p:nvSpPr>
        <p:spPr>
          <a:xfrm>
            <a:off x="1234440" y="2075688"/>
            <a:ext cx="10332720" cy="425196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The prior version stays recorded and retrievable, so a regression discovered later can be rolled back to a known point rather than reconstructed from memory.</a:t>
            </a:r>
            <a:endParaRPr lang="en-US" sz="1400" dirty="0"/>
          </a:p>
        </p:txBody>
      </p:sp>
      <p:sp>
        <p:nvSpPr>
          <p:cNvPr id="9" name="Text 7"/>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0" name="Text 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822960" y="2331720"/>
            <a:ext cx="5486400" cy="45720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TOPIC 3</a:t>
            </a:r>
            <a:endParaRPr lang="en-US" sz="1500" dirty="0"/>
          </a:p>
        </p:txBody>
      </p:sp>
      <p:sp>
        <p:nvSpPr>
          <p:cNvPr id="3" name="Text 1"/>
          <p:cNvSpPr/>
          <p:nvPr/>
        </p:nvSpPr>
        <p:spPr>
          <a:xfrm>
            <a:off x="822960" y="2788920"/>
            <a:ext cx="1051560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Model Evaluation with AIP Evals</a:t>
            </a:r>
            <a:endParaRPr lang="en-US" sz="3400" dirty="0"/>
          </a:p>
        </p:txBody>
      </p:sp>
      <p:sp>
        <p:nvSpPr>
          <p:cNvPr id="4" name="Text 2"/>
          <p:cNvSpPr/>
          <p:nvPr/>
        </p:nvSpPr>
        <p:spPr>
          <a:xfrm>
            <a:off x="822960" y="3703320"/>
            <a:ext cx="987552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Testing LLM-powered functions and chatbots, given non-determinism</a:t>
            </a:r>
            <a:endParaRPr lang="en-US" sz="16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AIP Evals Exists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 purpose-built testing environment for the kind of non-determinism Topic 1 described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 conventional unit test assumes one correct output</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An LLM-powered function may produce several differently worded but equally valid outputs — two runs of your Batch 1 ClaimsCopilot against the same claim narrative can both be correct while using different phrasing. AIP Evals is built to score that kind of result, not just an exact string match.</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It evaluates AIP Logic functions, AIP Chatbot Studio chatbots, and code-authored functions</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Any of the function types you've built across this program can be the subject of an evaluation — the same mechanism applies to your Batch 1 FraudRiskAssessment function and to your Batch 1 Fraud Detection Chatbot that calls it.</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AIP Evals Exists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 purpose-built testing environment for the kind of non-determinism Topic 1 described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It integrates with AI FDE for conversational creation of evaluations</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An Evaluation Suite can be scaffolded through a conversational interface rather than built field by field — the same kind of time saving as using Add as test case straight from a Preview run of ComplianceReadinessCheck (Batch 3), rather than typing each Test Case by hand.</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The Five Core Concepts of AIP Evals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Each one answers a specific question about how a function is tested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Evaluation Suite</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overarching collection that ties everything together — it combines a set of Test Cases, one or more Target Functions, and the Evaluation Function(s) used to judge them. The Evaluation Suite built for your Batch 1 FraudRiskAssessment function is exactly this: its 3+ Test Cases, FraudRiskAssessment as the Target Function, and an Evaluation Function comparing its fraudRiskTier output to what was expected.</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Target Function</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function actually being evaluated — an AIP Logic function, a chatbot function, or a code-authored function. Your Batch 2 RiskScoreRefresh function is a Target Function; so, separately, could be the Risk Assessment Chatbot (Batch 2) that calls it, since a single Suite can evaluate more than one Target Function at once.</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The Five Core Concepts of AIP Evals (cont'd)</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Evaluation Function, Test Cases, and Metrics complete the picture</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Evaluation Function</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method used to compare a Target Function's actual output against the expected output defined in a test case. For ComplianceReadinessCheck (Batch 3), that means checking whether the function's regulatorySignOffRequired and complianceReadinessTier outputs match what the test case expected — the scoring logic behind the Suite.</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Test Cases</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Defined sets of inputs and expected outputs, passed into the Evaluation Function(s) each time a Suite runs. A concrete Test Case for FraudRiskAssessment (Batch 1): input claimAmount = 48,000 and isHighValueClaim = true, expected output recommendedFraudAction = OpenInvestigation.</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The Five Core Concepts of AIP Evals (cont'd)</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Metrics tie the cycle together</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Metrics</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quantifiable, per-test-case results a Suite run produces — enabling both aggregate scoring across all test cases and comparison across multiple runs. Running the CoverageRecommendationAssessment (Batch 4) Suite five times and watching whether its pass rate on the EscalateForCoverageRecommendation test cases stays stable is exactly this kind of comparison.</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Together, they form a repeatable evaluation cycle</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Define Test Cases once, run the Suite against any Target Function whenever a prompt, model, or tool changes, and compare Metrics across runs rather than trusting any single run in isolation — the cycle your Batch 1 FraudRiskAssessment Suite is built to run every time that function is touched.</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How an Evaluation Suite Run Works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path from a defined test case to a trustworthy metric</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2026768" y="2057400"/>
            <a:ext cx="1828800" cy="731520"/>
          </a:xfrm>
          <a:prstGeom prst="roundRect">
            <a:avLst>
              <a:gd name="adj" fmla="val 7500"/>
            </a:avLst>
          </a:prstGeom>
          <a:solidFill>
            <a:srgbClr val="1F3864"/>
          </a:solidFill>
          <a:ln/>
        </p:spPr>
      </p:sp>
      <p:sp>
        <p:nvSpPr>
          <p:cNvPr id="6" name="Text 4"/>
          <p:cNvSpPr/>
          <p:nvPr/>
        </p:nvSpPr>
        <p:spPr>
          <a:xfrm>
            <a:off x="2026768" y="2057400"/>
            <a:ext cx="1828800" cy="7315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Test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Cases</a:t>
            </a:r>
            <a:endParaRPr lang="en-US" sz="1300" dirty="0"/>
          </a:p>
        </p:txBody>
      </p:sp>
      <p:sp>
        <p:nvSpPr>
          <p:cNvPr id="7" name="Shape 5"/>
          <p:cNvSpPr/>
          <p:nvPr/>
        </p:nvSpPr>
        <p:spPr>
          <a:xfrm>
            <a:off x="3855568" y="2340864"/>
            <a:ext cx="274320" cy="164592"/>
          </a:xfrm>
          <a:prstGeom prst="rightArrow">
            <a:avLst/>
          </a:prstGeom>
          <a:solidFill>
            <a:srgbClr val="9AA0A6"/>
          </a:solidFill>
          <a:ln/>
        </p:spPr>
      </p:sp>
      <p:sp>
        <p:nvSpPr>
          <p:cNvPr id="8" name="Shape 6"/>
          <p:cNvSpPr/>
          <p:nvPr/>
        </p:nvSpPr>
        <p:spPr>
          <a:xfrm>
            <a:off x="4129888" y="2057400"/>
            <a:ext cx="1828800" cy="731520"/>
          </a:xfrm>
          <a:prstGeom prst="roundRect">
            <a:avLst>
              <a:gd name="adj" fmla="val 7500"/>
            </a:avLst>
          </a:prstGeom>
          <a:solidFill>
            <a:srgbClr val="1F3864"/>
          </a:solidFill>
          <a:ln/>
        </p:spPr>
      </p:sp>
      <p:sp>
        <p:nvSpPr>
          <p:cNvPr id="9" name="Text 7"/>
          <p:cNvSpPr/>
          <p:nvPr/>
        </p:nvSpPr>
        <p:spPr>
          <a:xfrm>
            <a:off x="4129888" y="2057400"/>
            <a:ext cx="1828800" cy="7315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Target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Function</a:t>
            </a:r>
            <a:endParaRPr lang="en-US" sz="1300" dirty="0"/>
          </a:p>
        </p:txBody>
      </p:sp>
      <p:sp>
        <p:nvSpPr>
          <p:cNvPr id="10" name="Shape 8"/>
          <p:cNvSpPr/>
          <p:nvPr/>
        </p:nvSpPr>
        <p:spPr>
          <a:xfrm>
            <a:off x="5958688" y="2340864"/>
            <a:ext cx="274320" cy="164592"/>
          </a:xfrm>
          <a:prstGeom prst="rightArrow">
            <a:avLst/>
          </a:prstGeom>
          <a:solidFill>
            <a:srgbClr val="9AA0A6"/>
          </a:solidFill>
          <a:ln/>
        </p:spPr>
      </p:sp>
      <p:sp>
        <p:nvSpPr>
          <p:cNvPr id="11" name="Shape 9"/>
          <p:cNvSpPr/>
          <p:nvPr/>
        </p:nvSpPr>
        <p:spPr>
          <a:xfrm>
            <a:off x="6233008" y="2057400"/>
            <a:ext cx="1828800" cy="731520"/>
          </a:xfrm>
          <a:prstGeom prst="roundRect">
            <a:avLst>
              <a:gd name="adj" fmla="val 7500"/>
            </a:avLst>
          </a:prstGeom>
          <a:solidFill>
            <a:srgbClr val="1F3864"/>
          </a:solidFill>
          <a:ln/>
        </p:spPr>
      </p:sp>
      <p:sp>
        <p:nvSpPr>
          <p:cNvPr id="12" name="Text 10"/>
          <p:cNvSpPr/>
          <p:nvPr/>
        </p:nvSpPr>
        <p:spPr>
          <a:xfrm>
            <a:off x="6233008" y="2057400"/>
            <a:ext cx="1828800" cy="7315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Function</a:t>
            </a:r>
            <a:endParaRPr lang="en-US" sz="1300" dirty="0"/>
          </a:p>
        </p:txBody>
      </p:sp>
      <p:sp>
        <p:nvSpPr>
          <p:cNvPr id="13" name="Shape 11"/>
          <p:cNvSpPr/>
          <p:nvPr/>
        </p:nvSpPr>
        <p:spPr>
          <a:xfrm>
            <a:off x="8061808" y="2340864"/>
            <a:ext cx="274320" cy="164592"/>
          </a:xfrm>
          <a:prstGeom prst="rightArrow">
            <a:avLst/>
          </a:prstGeom>
          <a:solidFill>
            <a:srgbClr val="9AA0A6"/>
          </a:solidFill>
          <a:ln/>
        </p:spPr>
      </p:sp>
      <p:sp>
        <p:nvSpPr>
          <p:cNvPr id="14" name="Shape 12"/>
          <p:cNvSpPr/>
          <p:nvPr/>
        </p:nvSpPr>
        <p:spPr>
          <a:xfrm>
            <a:off x="8336128" y="2057400"/>
            <a:ext cx="1828800" cy="731520"/>
          </a:xfrm>
          <a:prstGeom prst="roundRect">
            <a:avLst>
              <a:gd name="adj" fmla="val 7500"/>
            </a:avLst>
          </a:prstGeom>
          <a:solidFill>
            <a:srgbClr val="2E8B8B"/>
          </a:solidFill>
          <a:ln/>
        </p:spPr>
      </p:sp>
      <p:sp>
        <p:nvSpPr>
          <p:cNvPr id="15" name="Text 13"/>
          <p:cNvSpPr/>
          <p:nvPr/>
        </p:nvSpPr>
        <p:spPr>
          <a:xfrm>
            <a:off x="8336128" y="2057400"/>
            <a:ext cx="1828800" cy="7315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Metrics</a:t>
            </a:r>
            <a:endParaRPr lang="en-US" sz="1300" dirty="0"/>
          </a:p>
        </p:txBody>
      </p:sp>
      <p:sp>
        <p:nvSpPr>
          <p:cNvPr id="16" name="Shape 14"/>
          <p:cNvSpPr/>
          <p:nvPr/>
        </p:nvSpPr>
        <p:spPr>
          <a:xfrm>
            <a:off x="822960" y="3108960"/>
            <a:ext cx="10515600" cy="3246120"/>
          </a:xfrm>
          <a:prstGeom prst="roundRect">
            <a:avLst>
              <a:gd name="adj" fmla="val 2254"/>
            </a:avLst>
          </a:prstGeom>
          <a:solidFill>
            <a:srgbClr val="E6ECFB"/>
          </a:solidFill>
          <a:ln w="12700">
            <a:solidFill>
              <a:srgbClr val="D8DCE6"/>
            </a:solidFill>
            <a:prstDash val="solid"/>
          </a:ln>
        </p:spPr>
      </p:sp>
      <p:sp>
        <p:nvSpPr>
          <p:cNvPr id="17" name="Text 15"/>
          <p:cNvSpPr/>
          <p:nvPr/>
        </p:nvSpPr>
        <p:spPr>
          <a:xfrm>
            <a:off x="1097280" y="3246120"/>
            <a:ext cx="9966960" cy="3017520"/>
          </a:xfrm>
          <a:prstGeom prst="rect">
            <a:avLst/>
          </a:prstGeom>
          <a:noFill/>
          <a:ln/>
        </p:spPr>
        <p:txBody>
          <a:bodyPr wrap="square" rtlCol="0" anchor="ctr"/>
          <a:lstStyle/>
          <a:p>
            <a:pPr marL="0" indent="0">
              <a:lnSpc>
                <a:spcPct val="120000"/>
              </a:lnSpc>
              <a:buNone/>
            </a:pPr>
            <a:r>
              <a:rPr lang="en-US" sz="1400" dirty="0">
                <a:solidFill>
                  <a:srgbClr val="222222"/>
                </a:solidFill>
                <a:latin typeface="Calibri" pitchFamily="34" charset="0"/>
                <a:ea typeface="Calibri" pitchFamily="34" charset="-122"/>
                <a:cs typeface="Calibri" pitchFamily="34" charset="-120"/>
              </a:rPr>
              <a:t>A Suite run passes each Test Case's input into the Target Function, hands the Target Function's actual output and the Test Case's expected output to the Evaluation Function, and records the result as a Metric. Walked through concretely: a Test Case with claimAmount = 48,000 and isHighValueClaim = true goes into your Batch 1 FraudRiskAssessment Target Function; its actual recommendedFraudAction output is compared by the Evaluation Function against the expected OpenInvestigation; the match or mismatch becomes a Metric. Because of LLM non-determinism, the value of AIP Evals comes from running this cycle repeatedly and comparing Metrics across runs — not from a single pass.</a:t>
            </a:r>
            <a:endParaRPr lang="en-US" sz="1400" dirty="0"/>
          </a:p>
        </p:txBody>
      </p:sp>
      <p:sp>
        <p:nvSpPr>
          <p:cNvPr id="18" name="Text 1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9" name="Text 1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Worked Example: Evaluating FraudRiskAssessment (Batch 1)</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Applying the five concepts to a function this program has already built</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1347216"/>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Target Function</a:t>
            </a:r>
            <a:endParaRPr lang="en-US" sz="1800" dirty="0"/>
          </a:p>
        </p:txBody>
      </p:sp>
      <p:sp>
        <p:nvSpPr>
          <p:cNvPr id="7" name="Text 5"/>
          <p:cNvSpPr/>
          <p:nvPr/>
        </p:nvSpPr>
        <p:spPr>
          <a:xfrm>
            <a:off x="777240" y="2093976"/>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Your Batch 1 FraudRiskAssessment function — it takes a claim's claimAmount and isHighValueClaim and recommends a fraudRiskTier and recommendedFraudAction, such as OpenInvestigation.</a:t>
            </a:r>
            <a:endParaRPr lang="en-US" sz="1600" dirty="0"/>
          </a:p>
        </p:txBody>
      </p:sp>
      <p:sp>
        <p:nvSpPr>
          <p:cNvPr id="8" name="Shape 6"/>
          <p:cNvSpPr/>
          <p:nvPr/>
        </p:nvSpPr>
        <p:spPr>
          <a:xfrm>
            <a:off x="548640" y="3313176"/>
            <a:ext cx="54864" cy="1347216"/>
          </a:xfrm>
          <a:prstGeom prst="rect">
            <a:avLst/>
          </a:prstGeom>
          <a:solidFill>
            <a:srgbClr val="2E8B8B"/>
          </a:solidFill>
          <a:ln/>
        </p:spPr>
      </p:sp>
      <p:sp>
        <p:nvSpPr>
          <p:cNvPr id="9" name="Text 7"/>
          <p:cNvSpPr/>
          <p:nvPr/>
        </p:nvSpPr>
        <p:spPr>
          <a:xfrm>
            <a:off x="777240" y="3267456"/>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Test Cases</a:t>
            </a:r>
            <a:endParaRPr lang="en-US" sz="1800" dirty="0"/>
          </a:p>
        </p:txBody>
      </p:sp>
      <p:sp>
        <p:nvSpPr>
          <p:cNvPr id="10" name="Text 8"/>
          <p:cNvSpPr/>
          <p:nvPr/>
        </p:nvSpPr>
        <p:spPr>
          <a:xfrm>
            <a:off x="777240" y="3669792"/>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Representative claims with a known, agreed-upon expected recommendation each — for example, claimAmount = 48,000 and isHighValueClaim = true, expecting recommendedFraudAction = OpenInvestigation, plus edge cases near the 25,000 High-Value threshold.</a:t>
            </a:r>
            <a:endParaRPr lang="en-US" sz="1600" dirty="0"/>
          </a:p>
        </p:txBody>
      </p:sp>
      <p:sp>
        <p:nvSpPr>
          <p:cNvPr id="11" name="Shape 9"/>
          <p:cNvSpPr/>
          <p:nvPr/>
        </p:nvSpPr>
        <p:spPr>
          <a:xfrm>
            <a:off x="548640" y="4888992"/>
            <a:ext cx="54864" cy="1347216"/>
          </a:xfrm>
          <a:prstGeom prst="rect">
            <a:avLst/>
          </a:prstGeom>
          <a:solidFill>
            <a:srgbClr val="2E8B8B"/>
          </a:solidFill>
          <a:ln/>
        </p:spPr>
      </p:sp>
      <p:sp>
        <p:nvSpPr>
          <p:cNvPr id="12" name="Text 10"/>
          <p:cNvSpPr/>
          <p:nvPr/>
        </p:nvSpPr>
        <p:spPr>
          <a:xfrm>
            <a:off x="777240" y="4843272"/>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Evaluation Function</a:t>
            </a:r>
            <a:endParaRPr lang="en-US" sz="1800" dirty="0"/>
          </a:p>
        </p:txBody>
      </p:sp>
      <p:sp>
        <p:nvSpPr>
          <p:cNvPr id="13" name="Text 11"/>
          <p:cNvSpPr/>
          <p:nvPr/>
        </p:nvSpPr>
        <p:spPr>
          <a:xfrm>
            <a:off x="777240" y="5245608"/>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comparison method judging whether FraudRiskAssessment's recommendedFraudAction and fraudRiskTier match what each Test Case expected — in substance, not necessarily in exact wording.</a:t>
            </a:r>
            <a:endParaRPr lang="en-US" sz="16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Worked Example: Evaluating FraudRiskAssessment (cont'd)</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Reading the Metrics and deciding whether the function is ready</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1347216"/>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Metrics, run one</a:t>
            </a:r>
            <a:endParaRPr lang="en-US" sz="1800" dirty="0"/>
          </a:p>
        </p:txBody>
      </p:sp>
      <p:sp>
        <p:nvSpPr>
          <p:cNvPr id="7" name="Text 5"/>
          <p:cNvSpPr/>
          <p:nvPr/>
        </p:nvSpPr>
        <p:spPr>
          <a:xfrm>
            <a:off x="777240" y="2093976"/>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Suite runs once against all Test Cases, producing a per-test-case pass/fail — did recommendedFraudAction match expected? — plus an aggregate pass rate across the whole set.</a:t>
            </a:r>
            <a:endParaRPr lang="en-US" sz="1600" dirty="0"/>
          </a:p>
        </p:txBody>
      </p:sp>
      <p:sp>
        <p:nvSpPr>
          <p:cNvPr id="8" name="Shape 6"/>
          <p:cNvSpPr/>
          <p:nvPr/>
        </p:nvSpPr>
        <p:spPr>
          <a:xfrm>
            <a:off x="548640" y="3313176"/>
            <a:ext cx="54864" cy="1347216"/>
          </a:xfrm>
          <a:prstGeom prst="rect">
            <a:avLst/>
          </a:prstGeom>
          <a:solidFill>
            <a:srgbClr val="2E8B8B"/>
          </a:solidFill>
          <a:ln/>
        </p:spPr>
      </p:sp>
      <p:sp>
        <p:nvSpPr>
          <p:cNvPr id="9" name="Text 7"/>
          <p:cNvSpPr/>
          <p:nvPr/>
        </p:nvSpPr>
        <p:spPr>
          <a:xfrm>
            <a:off x="777240" y="3267456"/>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Metrics, compared across runs</a:t>
            </a:r>
            <a:endParaRPr lang="en-US" sz="1800" dirty="0"/>
          </a:p>
        </p:txBody>
      </p:sp>
      <p:sp>
        <p:nvSpPr>
          <p:cNvPr id="10" name="Text 8"/>
          <p:cNvSpPr/>
          <p:nvPr/>
        </p:nvSpPr>
        <p:spPr>
          <a:xfrm>
            <a:off x="777240" y="3669792"/>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same Suite is run again — because of non-determinism, a single run's aggregate score is not proof of reliability. Comparing pass rates across several runs of the 48,000-claim Test Case is what tells you whether FraudRiskAssessment is consistently correct or only correct by chance.</a:t>
            </a:r>
            <a:endParaRPr lang="en-US" sz="1600" dirty="0"/>
          </a:p>
        </p:txBody>
      </p:sp>
      <p:sp>
        <p:nvSpPr>
          <p:cNvPr id="11" name="Shape 9"/>
          <p:cNvSpPr/>
          <p:nvPr/>
        </p:nvSpPr>
        <p:spPr>
          <a:xfrm>
            <a:off x="548640" y="4888992"/>
            <a:ext cx="54864" cy="1347216"/>
          </a:xfrm>
          <a:prstGeom prst="rect">
            <a:avLst/>
          </a:prstGeom>
          <a:solidFill>
            <a:srgbClr val="2E8B8B"/>
          </a:solidFill>
          <a:ln/>
        </p:spPr>
      </p:sp>
      <p:sp>
        <p:nvSpPr>
          <p:cNvPr id="12" name="Text 10"/>
          <p:cNvSpPr/>
          <p:nvPr/>
        </p:nvSpPr>
        <p:spPr>
          <a:xfrm>
            <a:off x="777240" y="4843272"/>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The decision this supports</a:t>
            </a:r>
            <a:endParaRPr lang="en-US" sz="1800" dirty="0"/>
          </a:p>
        </p:txBody>
      </p:sp>
      <p:sp>
        <p:nvSpPr>
          <p:cNvPr id="13" name="Text 11"/>
          <p:cNvSpPr/>
          <p:nvPr/>
        </p:nvSpPr>
        <p:spPr>
          <a:xfrm>
            <a:off x="777240" y="5245608"/>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Only once Metrics are both acceptable in aggregate and stable across repeated runs does this become evidence FraudRiskAssessment is ready for a production release — the same bar any prompt version or model update should be held to going forward.</a:t>
            </a:r>
            <a:endParaRPr lang="en-US" sz="16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822960" y="2331720"/>
            <a:ext cx="5486400" cy="45720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TOPIC 4</a:t>
            </a:r>
            <a:endParaRPr lang="en-US" sz="1500" dirty="0"/>
          </a:p>
        </p:txBody>
      </p:sp>
      <p:sp>
        <p:nvSpPr>
          <p:cNvPr id="3" name="Text 1"/>
          <p:cNvSpPr/>
          <p:nvPr/>
        </p:nvSpPr>
        <p:spPr>
          <a:xfrm>
            <a:off x="822960" y="2788920"/>
            <a:ext cx="1051560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AI Observability</a:t>
            </a:r>
            <a:endParaRPr lang="en-US" sz="3400" dirty="0"/>
          </a:p>
        </p:txBody>
      </p:sp>
      <p:sp>
        <p:nvSpPr>
          <p:cNvPr id="4" name="Text 2"/>
          <p:cNvSpPr/>
          <p:nvPr/>
        </p:nvSpPr>
        <p:spPr>
          <a:xfrm>
            <a:off x="822960" y="3703320"/>
            <a:ext cx="987552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Seeing how a function or chatbot is actually behaving, once it is live</a:t>
            </a:r>
            <a:endParaRPr lang="en-US" sz="16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Observability Is a Separate Concern from Evaluation</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Evaluation asks “is this correct?” — observability asks “what is actually happening?”</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Evaluation is proactive, run against known test cases</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AIP Evals tells you how FraudRiskAssessment (Batch 1) performs on the claimAmount = 48,000 Test Case you defined in advance — it cannot tell you what real policyholders are actually asking the Claims Chatbot, or how the function behaves on a claim pattern nobody anticipated.</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Observability is live, running against real traffic</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Foundry Observability covers what is happening right now, across real executions — opening your Batch 3 Compliance Chatbot's Monitoring tab to see its actual conversations with real users, not test cases, is this in practice.</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Observability Is a Separate Concern from Evaluation</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Evaluation asks “is this correct?” — observability asks “what is actually happening?”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 production-ready system needs both</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Passing Metrics from your Batch 2 RiskScoreRefresh Evaluation Suite and a clean observability picture for the live Risk Assessment Chatbot answer different questions — neither one substitutes for the other.</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Foundry Observability: Monitoring</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Keeping a continuous eye on data health and system behavior</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1347216"/>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Data Health and rule-based monitoring</a:t>
            </a:r>
            <a:endParaRPr lang="en-US" sz="1800" dirty="0"/>
          </a:p>
        </p:txBody>
      </p:sp>
      <p:sp>
        <p:nvSpPr>
          <p:cNvPr id="7" name="Text 5"/>
          <p:cNvSpPr/>
          <p:nvPr/>
        </p:nvSpPr>
        <p:spPr>
          <a:xfrm>
            <a:off x="777240" y="2093976"/>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Conditions defined against your Functions, Actions, and AIP Logic executions, checked continuously. A rule against your Batch 1 FraudRiskAssessment function — alert if its failure rate crosses a set threshold — is checked continuously rather than only when someone happens to look.</a:t>
            </a:r>
            <a:endParaRPr lang="en-US" sz="1600" dirty="0"/>
          </a:p>
        </p:txBody>
      </p:sp>
      <p:sp>
        <p:nvSpPr>
          <p:cNvPr id="8" name="Shape 6"/>
          <p:cNvSpPr/>
          <p:nvPr/>
        </p:nvSpPr>
        <p:spPr>
          <a:xfrm>
            <a:off x="548640" y="3313176"/>
            <a:ext cx="54864" cy="1347216"/>
          </a:xfrm>
          <a:prstGeom prst="rect">
            <a:avLst/>
          </a:prstGeom>
          <a:solidFill>
            <a:srgbClr val="2E8B8B"/>
          </a:solidFill>
          <a:ln/>
        </p:spPr>
      </p:sp>
      <p:sp>
        <p:nvSpPr>
          <p:cNvPr id="9" name="Text 7"/>
          <p:cNvSpPr/>
          <p:nvPr/>
        </p:nvSpPr>
        <p:spPr>
          <a:xfrm>
            <a:off x="777240" y="3267456"/>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Alerts reach the team where it already works</a:t>
            </a:r>
            <a:endParaRPr lang="en-US" sz="1800" dirty="0"/>
          </a:p>
        </p:txBody>
      </p:sp>
      <p:sp>
        <p:nvSpPr>
          <p:cNvPr id="10" name="Text 8"/>
          <p:cNvSpPr/>
          <p:nvPr/>
        </p:nvSpPr>
        <p:spPr>
          <a:xfrm>
            <a:off x="777240" y="3669792"/>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Rule violations can notify through PagerDuty, Slack, webhooks, or Foundry's own notifications. A spike in failed calls to InvokeFraudDetectionChatbot (Batch 1) reaching your team's Slack channel the moment it happens is the practical form of this.</a:t>
            </a:r>
            <a:endParaRPr lang="en-US" sz="1600" dirty="0"/>
          </a:p>
        </p:txBody>
      </p:sp>
      <p:sp>
        <p:nvSpPr>
          <p:cNvPr id="11" name="Shape 9"/>
          <p:cNvSpPr/>
          <p:nvPr/>
        </p:nvSpPr>
        <p:spPr>
          <a:xfrm>
            <a:off x="548640" y="4888992"/>
            <a:ext cx="54864" cy="1347216"/>
          </a:xfrm>
          <a:prstGeom prst="rect">
            <a:avLst/>
          </a:prstGeom>
          <a:solidFill>
            <a:srgbClr val="2E8B8B"/>
          </a:solidFill>
          <a:ln/>
        </p:spPr>
      </p:sp>
      <p:sp>
        <p:nvSpPr>
          <p:cNvPr id="12" name="Text 10"/>
          <p:cNvSpPr/>
          <p:nvPr/>
        </p:nvSpPr>
        <p:spPr>
          <a:xfrm>
            <a:off x="777240" y="4843272"/>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Thirty days of performance data</a:t>
            </a:r>
            <a:endParaRPr lang="en-US" sz="1800" dirty="0"/>
          </a:p>
        </p:txBody>
      </p:sp>
      <p:sp>
        <p:nvSpPr>
          <p:cNvPr id="13" name="Text 11"/>
          <p:cNvSpPr/>
          <p:nvPr/>
        </p:nvSpPr>
        <p:spPr>
          <a:xfrm>
            <a:off x="777240" y="5245608"/>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Enough history to spot a trend — a slow increase in failure rate, or P95 execution duration creeping upward for your Batch 2 RiskScoreRefresh function — not just a single bad moment.</a:t>
            </a:r>
            <a:endParaRPr lang="en-US" sz="16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Foundry Observability: Debugging</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Understanding exactly what happened on one execution, after the fact</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1347216"/>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Workflow Lineage and execution history</a:t>
            </a:r>
            <a:endParaRPr lang="en-US" sz="1800" dirty="0"/>
          </a:p>
        </p:txBody>
      </p:sp>
      <p:sp>
        <p:nvSpPr>
          <p:cNvPr id="7" name="Text 5"/>
          <p:cNvSpPr/>
          <p:nvPr/>
        </p:nvSpPr>
        <p:spPr>
          <a:xfrm>
            <a:off x="777240" y="2093976"/>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Seven days of execution history, letting you trace a specific run of a Function, Action, or AIP Logic chain back through what it actually did — for example, following one SubmitComplianceReview (Batch 3) submission back through ComplianceReadinessCheck to the Fraud Case that triggered it.</a:t>
            </a:r>
            <a:endParaRPr lang="en-US" sz="1600" dirty="0"/>
          </a:p>
        </p:txBody>
      </p:sp>
      <p:sp>
        <p:nvSpPr>
          <p:cNvPr id="8" name="Shape 6"/>
          <p:cNvSpPr/>
          <p:nvPr/>
        </p:nvSpPr>
        <p:spPr>
          <a:xfrm>
            <a:off x="548640" y="3313176"/>
            <a:ext cx="54864" cy="1347216"/>
          </a:xfrm>
          <a:prstGeom prst="rect">
            <a:avLst/>
          </a:prstGeom>
          <a:solidFill>
            <a:srgbClr val="2E8B8B"/>
          </a:solidFill>
          <a:ln/>
        </p:spPr>
      </p:sp>
      <p:sp>
        <p:nvSpPr>
          <p:cNvPr id="9" name="Text 7"/>
          <p:cNvSpPr/>
          <p:nvPr/>
        </p:nvSpPr>
        <p:spPr>
          <a:xfrm>
            <a:off x="777240" y="3267456"/>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Log search across executions</a:t>
            </a:r>
            <a:endParaRPr lang="en-US" sz="1800" dirty="0"/>
          </a:p>
        </p:txBody>
      </p:sp>
      <p:sp>
        <p:nvSpPr>
          <p:cNvPr id="10" name="Text 8"/>
          <p:cNvSpPr/>
          <p:nvPr/>
        </p:nvSpPr>
        <p:spPr>
          <a:xfrm>
            <a:off x="777240" y="3669792"/>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Searching logs across many executions at once, rather than opening one run at a time — searching every InvokePolicyRecommendationChatbot (Batch 4) call from the past week for a shared error signature, when you're looking for a pattern rather than a single incident.</a:t>
            </a:r>
            <a:endParaRPr lang="en-US" sz="1600" dirty="0"/>
          </a:p>
        </p:txBody>
      </p:sp>
      <p:sp>
        <p:nvSpPr>
          <p:cNvPr id="11" name="Shape 9"/>
          <p:cNvSpPr/>
          <p:nvPr/>
        </p:nvSpPr>
        <p:spPr>
          <a:xfrm>
            <a:off x="548640" y="4888992"/>
            <a:ext cx="54864" cy="1347216"/>
          </a:xfrm>
          <a:prstGeom prst="rect">
            <a:avLst/>
          </a:prstGeom>
          <a:solidFill>
            <a:srgbClr val="2E8B8B"/>
          </a:solidFill>
          <a:ln/>
        </p:spPr>
      </p:sp>
      <p:sp>
        <p:nvSpPr>
          <p:cNvPr id="12" name="Text 10"/>
          <p:cNvSpPr/>
          <p:nvPr/>
        </p:nvSpPr>
        <p:spPr>
          <a:xfrm>
            <a:off x="777240" y="4843272"/>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Tracing</a:t>
            </a:r>
            <a:endParaRPr lang="en-US" sz="1800" dirty="0"/>
          </a:p>
        </p:txBody>
      </p:sp>
      <p:sp>
        <p:nvSpPr>
          <p:cNvPr id="13" name="Text 11"/>
          <p:cNvSpPr/>
          <p:nvPr/>
        </p:nvSpPr>
        <p:spPr>
          <a:xfrm>
            <a:off x="777240" y="5245608"/>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ability to drill into any single operation within an execution to see its duration, its inputs, its outputs, and any errors. Tracing into one failed run of FraudRiskAssessment (Batch 1) to see the exact claimAmount it received and where in the chain it errored is the level of detail that turns “it failed” into “here is exactly where, and why.”</a:t>
            </a:r>
            <a:endParaRPr lang="en-US" sz="16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Foundry Observability: Analysis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Taking observability data beyond the built-in dashboards</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Export logs, metrics, and traces to a streaming dataset</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Observability data isn't locked inside a fixed view — a month of your Batch 3 Compliance Chatbot's traces can be exported and analyzed for a slow shift in how often it recommends escalation, a question no single built-in view answers directly.</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Confirmed tracked metrics</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Success and failure counts, P95 execution duration, and execution counts across resources — tracked for your Batch 2 RiskScoreRefresh function and the Risk Assessment Chatbot calling it, the same way as for any other Function, Action, or AIP Logic chain.</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Foundry Observability: Analysis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Taking observability data beyond the built-in dashboards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Where LLM-specific tracking goes further</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Token usage, cost per call, and output-quality drift are LLMOps practices your team should establish deliberately, not platform features to assume exist out of the box. This mirrors a well-known pattern in production LLM deployments more broadly: teams commonly track token volume and per-call cost in their own dashboard, the same way they'd track any other cost that can grow quietly with traffic. Day 2 returns to cost management directly.</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Tying Observability Back to a Function You've Built</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What Monitoring, Debugging, and Analysis each answer for a live chatbot or function</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1347216"/>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Monitoring answers: is anything wrong right now?</a:t>
            </a:r>
            <a:endParaRPr lang="en-US" sz="1800" dirty="0"/>
          </a:p>
        </p:txBody>
      </p:sp>
      <p:sp>
        <p:nvSpPr>
          <p:cNvPr id="7" name="Text 5"/>
          <p:cNvSpPr/>
          <p:nvPr/>
        </p:nvSpPr>
        <p:spPr>
          <a:xfrm>
            <a:off x="777240" y="2093976"/>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rule-based alert on your Batch 2 Risk Assessment Chatbot's failure rate crossing a threshold, routed to Slack the moment it happens, rather than discovered a week later from a complaint.</a:t>
            </a:r>
            <a:endParaRPr lang="en-US" sz="1600" dirty="0"/>
          </a:p>
        </p:txBody>
      </p:sp>
      <p:sp>
        <p:nvSpPr>
          <p:cNvPr id="8" name="Shape 6"/>
          <p:cNvSpPr/>
          <p:nvPr/>
        </p:nvSpPr>
        <p:spPr>
          <a:xfrm>
            <a:off x="548640" y="3313176"/>
            <a:ext cx="54864" cy="1347216"/>
          </a:xfrm>
          <a:prstGeom prst="rect">
            <a:avLst/>
          </a:prstGeom>
          <a:solidFill>
            <a:srgbClr val="2E8B8B"/>
          </a:solidFill>
          <a:ln/>
        </p:spPr>
      </p:sp>
      <p:sp>
        <p:nvSpPr>
          <p:cNvPr id="9" name="Text 7"/>
          <p:cNvSpPr/>
          <p:nvPr/>
        </p:nvSpPr>
        <p:spPr>
          <a:xfrm>
            <a:off x="777240" y="3267456"/>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Debugging answers: what exactly happened on this one run?</a:t>
            </a:r>
            <a:endParaRPr lang="en-US" sz="1800" dirty="0"/>
          </a:p>
        </p:txBody>
      </p:sp>
      <p:sp>
        <p:nvSpPr>
          <p:cNvPr id="10" name="Text 8"/>
          <p:cNvSpPr/>
          <p:nvPr/>
        </p:nvSpPr>
        <p:spPr>
          <a:xfrm>
            <a:off x="777240" y="3669792"/>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Tracing into a single failed execution of CoverageRecommendationAssessment (Batch 4) to see the exact proposedPremium input, the exact recommendationTier output, and where in the chain it went wrong.</a:t>
            </a:r>
            <a:endParaRPr lang="en-US" sz="1600" dirty="0"/>
          </a:p>
        </p:txBody>
      </p:sp>
      <p:sp>
        <p:nvSpPr>
          <p:cNvPr id="11" name="Shape 9"/>
          <p:cNvSpPr/>
          <p:nvPr/>
        </p:nvSpPr>
        <p:spPr>
          <a:xfrm>
            <a:off x="548640" y="4888992"/>
            <a:ext cx="54864" cy="1347216"/>
          </a:xfrm>
          <a:prstGeom prst="rect">
            <a:avLst/>
          </a:prstGeom>
          <a:solidFill>
            <a:srgbClr val="2E8B8B"/>
          </a:solidFill>
          <a:ln/>
        </p:spPr>
      </p:sp>
      <p:sp>
        <p:nvSpPr>
          <p:cNvPr id="12" name="Text 10"/>
          <p:cNvSpPr/>
          <p:nvPr/>
        </p:nvSpPr>
        <p:spPr>
          <a:xfrm>
            <a:off x="777240" y="4843272"/>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Analysis answers: what's the pattern across many runs?</a:t>
            </a:r>
            <a:endParaRPr lang="en-US" sz="1800" dirty="0"/>
          </a:p>
        </p:txBody>
      </p:sp>
      <p:sp>
        <p:nvSpPr>
          <p:cNvPr id="13" name="Text 11"/>
          <p:cNvSpPr/>
          <p:nvPr/>
        </p:nvSpPr>
        <p:spPr>
          <a:xfrm>
            <a:off x="777240" y="5245608"/>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Exporting a month of your Batch 3 Compliance Chatbot's traces to look for a slow shift in how often it recommends escalation — the kind of question no single dashboard view is built to answer on its own.</a:t>
            </a:r>
            <a:endParaRPr lang="en-US" sz="16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Looking Ahead: Day 2 and the Week 6 Deliverable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Today built the vocabulary; tomorrow and Wednesday put it to work</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1347216"/>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Day 2 — Production, Cost &amp; Governance</a:t>
            </a:r>
            <a:endParaRPr lang="en-US" sz="1800" dirty="0"/>
          </a:p>
        </p:txBody>
      </p:sp>
      <p:sp>
        <p:nvSpPr>
          <p:cNvPr id="7" name="Text 5"/>
          <p:cNvSpPr/>
          <p:nvPr/>
        </p:nvSpPr>
        <p:spPr>
          <a:xfrm>
            <a:off x="777240" y="2093976"/>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Drift monitoring, cost management, release strategy, capacity planning, AI governance and responsible AI, and audit and compliance — the second half of what production-readiness requires.</a:t>
            </a:r>
            <a:endParaRPr lang="en-US" sz="1600" dirty="0"/>
          </a:p>
        </p:txBody>
      </p:sp>
      <p:sp>
        <p:nvSpPr>
          <p:cNvPr id="8" name="Shape 6"/>
          <p:cNvSpPr/>
          <p:nvPr/>
        </p:nvSpPr>
        <p:spPr>
          <a:xfrm>
            <a:off x="548640" y="3313176"/>
            <a:ext cx="54864" cy="1347216"/>
          </a:xfrm>
          <a:prstGeom prst="rect">
            <a:avLst/>
          </a:prstGeom>
          <a:solidFill>
            <a:srgbClr val="2E8B8B"/>
          </a:solidFill>
          <a:ln/>
        </p:spPr>
      </p:sp>
      <p:sp>
        <p:nvSpPr>
          <p:cNvPr id="9" name="Text 7"/>
          <p:cNvSpPr/>
          <p:nvPr/>
        </p:nvSpPr>
        <p:spPr>
          <a:xfrm>
            <a:off x="777240" y="3267456"/>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Day 3 — Self-paced build</a:t>
            </a:r>
            <a:endParaRPr lang="en-US" sz="1800" dirty="0"/>
          </a:p>
        </p:txBody>
      </p:sp>
      <p:sp>
        <p:nvSpPr>
          <p:cNvPr id="10" name="Text 8"/>
          <p:cNvSpPr/>
          <p:nvPr/>
        </p:nvSpPr>
        <p:spPr>
          <a:xfrm>
            <a:off x="777240" y="3669792"/>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You will build an evaluation suite, an observability dashboard, and a release plan for one of your program's existing functions or chatbots — today's four topics, applied hands-on.</a:t>
            </a:r>
            <a:endParaRPr lang="en-US" sz="1600" dirty="0"/>
          </a:p>
        </p:txBody>
      </p:sp>
      <p:sp>
        <p:nvSpPr>
          <p:cNvPr id="11" name="Shape 9"/>
          <p:cNvSpPr/>
          <p:nvPr/>
        </p:nvSpPr>
        <p:spPr>
          <a:xfrm>
            <a:off x="548640" y="4888992"/>
            <a:ext cx="54864" cy="1347216"/>
          </a:xfrm>
          <a:prstGeom prst="rect">
            <a:avLst/>
          </a:prstGeom>
          <a:solidFill>
            <a:srgbClr val="2E8B8B"/>
          </a:solidFill>
          <a:ln/>
        </p:spPr>
      </p:sp>
      <p:sp>
        <p:nvSpPr>
          <p:cNvPr id="12" name="Text 10"/>
          <p:cNvSpPr/>
          <p:nvPr/>
        </p:nvSpPr>
        <p:spPr>
          <a:xfrm>
            <a:off x="777240" y="4843272"/>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Day 4 and 5 — Batch practicals and review</a:t>
            </a:r>
            <a:endParaRPr lang="en-US" sz="1800" dirty="0"/>
          </a:p>
        </p:txBody>
      </p:sp>
      <p:sp>
        <p:nvSpPr>
          <p:cNvPr id="13" name="Text 11"/>
          <p:cNvSpPr/>
          <p:nvPr/>
        </p:nvSpPr>
        <p:spPr>
          <a:xfrm>
            <a:off x="777240" y="5245608"/>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Working sessions and review of the Production Readiness Package each batch produces, closing out Week 6.</a:t>
            </a:r>
            <a:endParaRPr lang="en-US" sz="16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Common Pitfalls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Patterns worth avoiding before Wednesday's self-paced build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Text 3"/>
          <p:cNvSpPr/>
          <p:nvPr/>
        </p:nvSpPr>
        <p:spPr>
          <a:xfrm>
            <a:off x="594360" y="1737360"/>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51560" y="1719072"/>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Treating a working demo as evidence the system is production-ready</a:t>
            </a:r>
            <a:endParaRPr lang="en-US" sz="1600" dirty="0"/>
          </a:p>
        </p:txBody>
      </p:sp>
      <p:sp>
        <p:nvSpPr>
          <p:cNvPr id="7" name="Text 5"/>
          <p:cNvSpPr/>
          <p:nvPr/>
        </p:nvSpPr>
        <p:spPr>
          <a:xfrm>
            <a:off x="1051560" y="2194560"/>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Your Batch 1 ClaimsCopilot answering well in ten test conversations has not been evaluated — LLM non-determinism means it can fail on the eleventh in a way none of your ten runs revealed.</a:t>
            </a:r>
            <a:endParaRPr lang="en-US" sz="1400" dirty="0"/>
          </a:p>
        </p:txBody>
      </p:sp>
      <p:sp>
        <p:nvSpPr>
          <p:cNvPr id="8" name="Text 6"/>
          <p:cNvSpPr/>
          <p:nvPr/>
        </p:nvSpPr>
        <p:spPr>
          <a:xfrm>
            <a:off x="594360" y="3297936"/>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051560" y="3279648"/>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Editing a system prompt directly in production with no history</a:t>
            </a:r>
            <a:endParaRPr lang="en-US" sz="1600" dirty="0"/>
          </a:p>
        </p:txBody>
      </p:sp>
      <p:sp>
        <p:nvSpPr>
          <p:cNvPr id="10" name="Text 8"/>
          <p:cNvSpPr/>
          <p:nvPr/>
        </p:nvSpPr>
        <p:spPr>
          <a:xfrm>
            <a:off x="1051560" y="3755136"/>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A prompt is as central to behavior as code. Editing your Batch 4 Customer Support Chatbot's escalation rule without a version history makes it impossible to know what changed, or to roll back when a change goes wrong.</a:t>
            </a:r>
            <a:endParaRPr lang="en-US" sz="1400" dirty="0"/>
          </a:p>
        </p:txBody>
      </p:sp>
      <p:sp>
        <p:nvSpPr>
          <p:cNvPr id="11" name="Text 9"/>
          <p:cNvSpPr/>
          <p:nvPr/>
        </p:nvSpPr>
        <p:spPr>
          <a:xfrm>
            <a:off x="594360" y="4858512"/>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051560" y="4840224"/>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Running an evaluation once, before launch, and never again</a:t>
            </a:r>
            <a:endParaRPr lang="en-US" sz="1600" dirty="0"/>
          </a:p>
        </p:txBody>
      </p:sp>
      <p:sp>
        <p:nvSpPr>
          <p:cNvPr id="13" name="Text 11"/>
          <p:cNvSpPr/>
          <p:nvPr/>
        </p:nvSpPr>
        <p:spPr>
          <a:xfrm>
            <a:off x="1051560" y="5315712"/>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An Evaluation Suite run once at launch for RiskScoreRefresh (Batch 2) tells you nothing about a later model update, a prompt edit six weeks on, or a slow drift in output quality — evaluation is continuous, not a one-time gate.</a:t>
            </a:r>
            <a:endParaRPr lang="en-US" sz="14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Common Pitfalls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Patterns worth avoiding before Wednesday's self-paced build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Text 3"/>
          <p:cNvSpPr/>
          <p:nvPr/>
        </p:nvSpPr>
        <p:spPr>
          <a:xfrm>
            <a:off x="594360" y="1737360"/>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51560" y="1719072"/>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Treating Metrics from a single run as conclusive</a:t>
            </a:r>
            <a:endParaRPr lang="en-US" sz="1600" dirty="0"/>
          </a:p>
        </p:txBody>
      </p:sp>
      <p:sp>
        <p:nvSpPr>
          <p:cNvPr id="7" name="Text 5"/>
          <p:cNvSpPr/>
          <p:nvPr/>
        </p:nvSpPr>
        <p:spPr>
          <a:xfrm>
            <a:off x="1051560" y="2194560"/>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LLM non-determinism means one run's Metrics for ComplianceReadinessCheck (Batch 3) can look fine by chance — AIP Evals' value is comparing variance across multiple runs before trusting a result.</a:t>
            </a:r>
            <a:endParaRPr lang="en-US" sz="1400" dirty="0"/>
          </a:p>
        </p:txBody>
      </p:sp>
      <p:sp>
        <p:nvSpPr>
          <p:cNvPr id="8" name="Text 6"/>
          <p:cNvSpPr/>
          <p:nvPr/>
        </p:nvSpPr>
        <p:spPr>
          <a:xfrm>
            <a:off x="594360" y="3297936"/>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051560" y="3279648"/>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Assuming no errors in the logs means the system is behaving correctly</a:t>
            </a:r>
            <a:endParaRPr lang="en-US" sz="1600" dirty="0"/>
          </a:p>
        </p:txBody>
      </p:sp>
      <p:sp>
        <p:nvSpPr>
          <p:cNvPr id="10" name="Text 8"/>
          <p:cNvSpPr/>
          <p:nvPr/>
        </p:nvSpPr>
        <p:spPr>
          <a:xfrm>
            <a:off x="1051560" y="3755136"/>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CoverageRecommendationAssessment (Batch 4) can execute successfully, with no error, and still return the wrong recommendationTier — observability and evaluation answer two different questions, and you need both.</a:t>
            </a:r>
            <a:endParaRPr lang="en-US" sz="1400" dirty="0"/>
          </a:p>
        </p:txBody>
      </p:sp>
      <p:sp>
        <p:nvSpPr>
          <p:cNvPr id="11" name="Text 9"/>
          <p:cNvSpPr/>
          <p:nvPr/>
        </p:nvSpPr>
        <p:spPr>
          <a:xfrm>
            <a:off x="594360" y="4858512"/>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051560" y="4840224"/>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Bolting on evaluation and observability at the end of a project</a:t>
            </a:r>
            <a:endParaRPr lang="en-US" sz="1600" dirty="0"/>
          </a:p>
        </p:txBody>
      </p:sp>
      <p:sp>
        <p:nvSpPr>
          <p:cNvPr id="13" name="Text 11"/>
          <p:cNvSpPr/>
          <p:nvPr/>
        </p:nvSpPr>
        <p:spPr>
          <a:xfrm>
            <a:off x="1051560" y="5315712"/>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Both are easiest to set up while you still remember what FraudRiskAssessment (Batch 1) was supposed to do — treat them as part of this week's build, not an afterthought before go-live.</a:t>
            </a:r>
            <a:endParaRPr lang="en-US" sz="14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62447"/>
        </a:solidFill>
        <a:effectLst/>
      </p:bgPr>
    </p:bg>
    <p:spTree>
      <p:nvGrpSpPr>
        <p:cNvPr id="1" name=""/>
        <p:cNvGrpSpPr/>
        <p:nvPr/>
      </p:nvGrpSpPr>
      <p:grpSpPr>
        <a:xfrm>
          <a:off x="0" y="0"/>
          <a:ext cx="0" cy="0"/>
          <a:chOff x="0" y="0"/>
          <a:chExt cx="0" cy="0"/>
        </a:xfrm>
      </p:grpSpPr>
      <p:sp>
        <p:nvSpPr>
          <p:cNvPr id="2" name="Text 0"/>
          <p:cNvSpPr/>
          <p:nvPr/>
        </p:nvSpPr>
        <p:spPr>
          <a:xfrm>
            <a:off x="822960" y="59436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Recap &amp; What's Next</a:t>
            </a:r>
            <a:endParaRPr lang="en-US" sz="2800" dirty="0"/>
          </a:p>
        </p:txBody>
      </p:sp>
      <p:sp>
        <p:nvSpPr>
          <p:cNvPr id="3" name="Text 1"/>
          <p:cNvSpPr/>
          <p:nvPr/>
        </p:nvSpPr>
        <p:spPr>
          <a:xfrm>
            <a:off x="822960" y="1371600"/>
            <a:ext cx="7315200" cy="365760"/>
          </a:xfrm>
          <a:prstGeom prst="rect">
            <a:avLst/>
          </a:prstGeom>
          <a:noFill/>
          <a:ln/>
        </p:spPr>
        <p:txBody>
          <a:bodyPr wrap="square" rtlCol="0" anchor="ctr"/>
          <a:lstStyle/>
          <a:p>
            <a:pPr marL="0" indent="0">
              <a:buNone/>
            </a:pPr>
            <a:r>
              <a:rPr lang="en-US" sz="1450" b="1" dirty="0">
                <a:solidFill>
                  <a:srgbClr val="B08D57"/>
                </a:solidFill>
                <a:latin typeface="Calibri" pitchFamily="34" charset="0"/>
                <a:ea typeface="Calibri" pitchFamily="34" charset="-122"/>
                <a:cs typeface="Calibri" pitchFamily="34" charset="-120"/>
              </a:rPr>
              <a:t>What We Covered Today</a:t>
            </a:r>
            <a:endParaRPr lang="en-US" sz="1450" dirty="0"/>
          </a:p>
        </p:txBody>
      </p:sp>
      <p:sp>
        <p:nvSpPr>
          <p:cNvPr id="4" name="Text 2"/>
          <p:cNvSpPr/>
          <p:nvPr/>
        </p:nvSpPr>
        <p:spPr>
          <a:xfrm>
            <a:off x="914400" y="1783080"/>
            <a:ext cx="9875520" cy="365760"/>
          </a:xfrm>
          <a:prstGeom prst="rect">
            <a:avLst/>
          </a:prstGeom>
          <a:noFill/>
          <a:ln/>
        </p:spPr>
        <p:txBody>
          <a:bodyPr wrap="square" rtlCol="0" anchor="ctr"/>
          <a:lstStyle/>
          <a:p>
            <a:pPr marL="0" indent="0">
              <a:buNone/>
            </a:pPr>
            <a:r>
              <a:rPr lang="en-US" sz="1500" dirty="0">
                <a:solidFill>
                  <a:srgbClr val="E8ECF5"/>
                </a:solidFill>
                <a:latin typeface="Calibri" pitchFamily="34" charset="0"/>
                <a:ea typeface="Calibri" pitchFamily="34" charset="-122"/>
                <a:cs typeface="Calibri" pitchFamily="34" charset="-120"/>
              </a:rPr>
              <a:t>•  Why Weeks 2–5's working Copilots, chatbots, and agents still need to be hardened for production</a:t>
            </a:r>
            <a:endParaRPr lang="en-US" sz="1500" dirty="0"/>
          </a:p>
        </p:txBody>
      </p:sp>
      <p:sp>
        <p:nvSpPr>
          <p:cNvPr id="5" name="Text 3"/>
          <p:cNvSpPr/>
          <p:nvPr/>
        </p:nvSpPr>
        <p:spPr>
          <a:xfrm>
            <a:off x="914400" y="2203704"/>
            <a:ext cx="9875520" cy="365760"/>
          </a:xfrm>
          <a:prstGeom prst="rect">
            <a:avLst/>
          </a:prstGeom>
          <a:noFill/>
          <a:ln/>
        </p:spPr>
        <p:txBody>
          <a:bodyPr wrap="square" rtlCol="0" anchor="ctr"/>
          <a:lstStyle/>
          <a:p>
            <a:pPr marL="0" indent="0">
              <a:buNone/>
            </a:pPr>
            <a:r>
              <a:rPr lang="en-US" sz="1500" dirty="0">
                <a:solidFill>
                  <a:srgbClr val="E8ECF5"/>
                </a:solidFill>
                <a:latin typeface="Calibri" pitchFamily="34" charset="0"/>
                <a:ea typeface="Calibri" pitchFamily="34" charset="-122"/>
                <a:cs typeface="Calibri" pitchFamily="34" charset="-120"/>
              </a:rPr>
              <a:t>•  The LLMOps lifecycle, and how it differs from classical MLOps — prompts as a first-class artifact, non-determinism, continuous evaluation</a:t>
            </a:r>
            <a:endParaRPr lang="en-US" sz="1500" dirty="0"/>
          </a:p>
        </p:txBody>
      </p:sp>
      <p:sp>
        <p:nvSpPr>
          <p:cNvPr id="6" name="Text 4"/>
          <p:cNvSpPr/>
          <p:nvPr/>
        </p:nvSpPr>
        <p:spPr>
          <a:xfrm>
            <a:off x="914400" y="2624328"/>
            <a:ext cx="9875520" cy="365760"/>
          </a:xfrm>
          <a:prstGeom prst="rect">
            <a:avLst/>
          </a:prstGeom>
          <a:noFill/>
          <a:ln/>
        </p:spPr>
        <p:txBody>
          <a:bodyPr wrap="square" rtlCol="0" anchor="ctr"/>
          <a:lstStyle/>
          <a:p>
            <a:pPr marL="0" indent="0">
              <a:buNone/>
            </a:pPr>
            <a:r>
              <a:rPr lang="en-US" sz="1500" dirty="0">
                <a:solidFill>
                  <a:srgbClr val="E8ECF5"/>
                </a:solidFill>
                <a:latin typeface="Calibri" pitchFamily="34" charset="0"/>
                <a:ea typeface="Calibri" pitchFamily="34" charset="-122"/>
                <a:cs typeface="Calibri" pitchFamily="34" charset="-120"/>
              </a:rPr>
              <a:t>•  Why prompt versioning matters, tied back to the system/task prompts in Week 5's chatbots and functions</a:t>
            </a:r>
            <a:endParaRPr lang="en-US" sz="1500" dirty="0"/>
          </a:p>
        </p:txBody>
      </p:sp>
      <p:sp>
        <p:nvSpPr>
          <p:cNvPr id="7" name="Text 5"/>
          <p:cNvSpPr/>
          <p:nvPr/>
        </p:nvSpPr>
        <p:spPr>
          <a:xfrm>
            <a:off x="914400" y="3044952"/>
            <a:ext cx="9875520" cy="365760"/>
          </a:xfrm>
          <a:prstGeom prst="rect">
            <a:avLst/>
          </a:prstGeom>
          <a:noFill/>
          <a:ln/>
        </p:spPr>
        <p:txBody>
          <a:bodyPr wrap="square" rtlCol="0" anchor="ctr"/>
          <a:lstStyle/>
          <a:p>
            <a:pPr marL="0" indent="0">
              <a:buNone/>
            </a:pPr>
            <a:r>
              <a:rPr lang="en-US" sz="1500" dirty="0">
                <a:solidFill>
                  <a:srgbClr val="E8ECF5"/>
                </a:solidFill>
                <a:latin typeface="Calibri" pitchFamily="34" charset="0"/>
                <a:ea typeface="Calibri" pitchFamily="34" charset="-122"/>
                <a:cs typeface="Calibri" pitchFamily="34" charset="-120"/>
              </a:rPr>
              <a:t>•  AIP Evals: Evaluation Suite, Target Function, Evaluation Function, Test Cases, and Metrics</a:t>
            </a:r>
            <a:endParaRPr lang="en-US" sz="1500" dirty="0"/>
          </a:p>
        </p:txBody>
      </p:sp>
      <p:sp>
        <p:nvSpPr>
          <p:cNvPr id="8" name="Text 6"/>
          <p:cNvSpPr/>
          <p:nvPr/>
        </p:nvSpPr>
        <p:spPr>
          <a:xfrm>
            <a:off x="914400" y="3465576"/>
            <a:ext cx="9875520" cy="365760"/>
          </a:xfrm>
          <a:prstGeom prst="rect">
            <a:avLst/>
          </a:prstGeom>
          <a:noFill/>
          <a:ln/>
        </p:spPr>
        <p:txBody>
          <a:bodyPr wrap="square" rtlCol="0" anchor="ctr"/>
          <a:lstStyle/>
          <a:p>
            <a:pPr marL="0" indent="0">
              <a:buNone/>
            </a:pPr>
            <a:r>
              <a:rPr lang="en-US" sz="1500" dirty="0">
                <a:solidFill>
                  <a:srgbClr val="E8ECF5"/>
                </a:solidFill>
                <a:latin typeface="Calibri" pitchFamily="34" charset="0"/>
                <a:ea typeface="Calibri" pitchFamily="34" charset="-122"/>
                <a:cs typeface="Calibri" pitchFamily="34" charset="-120"/>
              </a:rPr>
              <a:t>•  Applying AIP Evals conceptually to a function or chatbot you've already built</a:t>
            </a:r>
            <a:endParaRPr lang="en-US" sz="1500" dirty="0"/>
          </a:p>
        </p:txBody>
      </p:sp>
      <p:sp>
        <p:nvSpPr>
          <p:cNvPr id="9" name="Text 7"/>
          <p:cNvSpPr/>
          <p:nvPr/>
        </p:nvSpPr>
        <p:spPr>
          <a:xfrm>
            <a:off x="914400" y="3886200"/>
            <a:ext cx="9875520" cy="365760"/>
          </a:xfrm>
          <a:prstGeom prst="rect">
            <a:avLst/>
          </a:prstGeom>
          <a:noFill/>
          <a:ln/>
        </p:spPr>
        <p:txBody>
          <a:bodyPr wrap="square" rtlCol="0" anchor="ctr"/>
          <a:lstStyle/>
          <a:p>
            <a:pPr marL="0" indent="0">
              <a:buNone/>
            </a:pPr>
            <a:r>
              <a:rPr lang="en-US" sz="1500" dirty="0">
                <a:solidFill>
                  <a:srgbClr val="E8ECF5"/>
                </a:solidFill>
                <a:latin typeface="Calibri" pitchFamily="34" charset="0"/>
                <a:ea typeface="Calibri" pitchFamily="34" charset="-122"/>
                <a:cs typeface="Calibri" pitchFamily="34" charset="-120"/>
              </a:rPr>
              <a:t>•  Foundry Observability's Monitoring, Debugging, and Analysis capabilities</a:t>
            </a:r>
            <a:endParaRPr lang="en-US" sz="1500" dirty="0"/>
          </a:p>
        </p:txBody>
      </p:sp>
      <p:sp>
        <p:nvSpPr>
          <p:cNvPr id="10" name="Text 8"/>
          <p:cNvSpPr/>
          <p:nvPr/>
        </p:nvSpPr>
        <p:spPr>
          <a:xfrm>
            <a:off x="914400" y="4306824"/>
            <a:ext cx="9875520" cy="365760"/>
          </a:xfrm>
          <a:prstGeom prst="rect">
            <a:avLst/>
          </a:prstGeom>
          <a:noFill/>
          <a:ln/>
        </p:spPr>
        <p:txBody>
          <a:bodyPr wrap="square" rtlCol="0" anchor="ctr"/>
          <a:lstStyle/>
          <a:p>
            <a:pPr marL="0" indent="0">
              <a:buNone/>
            </a:pPr>
            <a:r>
              <a:rPr lang="en-US" sz="1500" dirty="0">
                <a:solidFill>
                  <a:srgbClr val="E8ECF5"/>
                </a:solidFill>
                <a:latin typeface="Calibri" pitchFamily="34" charset="0"/>
                <a:ea typeface="Calibri" pitchFamily="34" charset="-122"/>
                <a:cs typeface="Calibri" pitchFamily="34" charset="-120"/>
              </a:rPr>
              <a:t>•  A first look at Day 2 and the Week 6 Production Readiness Package</a:t>
            </a:r>
            <a:endParaRPr lang="en-US" sz="1500" dirty="0"/>
          </a:p>
        </p:txBody>
      </p:sp>
      <p:sp>
        <p:nvSpPr>
          <p:cNvPr id="11" name="Shape 9"/>
          <p:cNvSpPr/>
          <p:nvPr/>
        </p:nvSpPr>
        <p:spPr>
          <a:xfrm>
            <a:off x="822960" y="4818888"/>
            <a:ext cx="10332720" cy="0"/>
          </a:xfrm>
          <a:prstGeom prst="line">
            <a:avLst/>
          </a:prstGeom>
          <a:noFill/>
          <a:ln w="12700">
            <a:solidFill>
              <a:srgbClr val="34477A"/>
            </a:solidFill>
            <a:prstDash val="solid"/>
          </a:ln>
        </p:spPr>
      </p:sp>
      <p:sp>
        <p:nvSpPr>
          <p:cNvPr id="12" name="Text 10"/>
          <p:cNvSpPr/>
          <p:nvPr/>
        </p:nvSpPr>
        <p:spPr>
          <a:xfrm>
            <a:off x="822960" y="5020056"/>
            <a:ext cx="10332720" cy="502920"/>
          </a:xfrm>
          <a:prstGeom prst="rect">
            <a:avLst/>
          </a:prstGeom>
          <a:noFill/>
          <a:ln/>
        </p:spPr>
        <p:txBody>
          <a:bodyPr wrap="square" rtlCol="0" anchor="ctr"/>
          <a:lstStyle/>
          <a:p>
            <a:pPr marL="0" indent="0">
              <a:buNone/>
            </a:pPr>
            <a:r>
              <a:rPr lang="en-US" sz="1800" b="1" dirty="0">
                <a:solidFill>
                  <a:srgbClr val="2E8B8B"/>
                </a:solidFill>
                <a:latin typeface="Cambria" pitchFamily="34" charset="0"/>
                <a:ea typeface="Cambria" pitchFamily="34" charset="-122"/>
                <a:cs typeface="Cambria" pitchFamily="34" charset="-120"/>
              </a:rPr>
              <a:t>Day 2 — Drift Monitoring, Cost Management, Release Strategy &amp; Governance</a:t>
            </a:r>
            <a:endParaRPr lang="en-US" sz="1800" dirty="0"/>
          </a:p>
        </p:txBody>
      </p:sp>
      <p:sp>
        <p:nvSpPr>
          <p:cNvPr id="13" name="Text 11"/>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1 — LLMOps Lifecycle, Prompt Versioning &amp; AI Evaluation</a:t>
            </a:r>
            <a:endParaRPr lang="en-US" sz="900" dirty="0"/>
          </a:p>
        </p:txBody>
      </p:sp>
      <p:sp>
        <p:nvSpPr>
          <p:cNvPr id="14" name="Text 1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5817</Words>
  <Application>Microsoft Office PowerPoint</Application>
  <PresentationFormat>Widescreen</PresentationFormat>
  <Paragraphs>445</Paragraphs>
  <Slides>45</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Rajesh Pasham</cp:lastModifiedBy>
  <cp:revision>3</cp:revision>
  <dcterms:created xsi:type="dcterms:W3CDTF">2026-10-04T04:29:27Z</dcterms:created>
  <dcterms:modified xsi:type="dcterms:W3CDTF">2026-10-04T06:11:40Z</dcterms:modified>
</cp:coreProperties>
</file>