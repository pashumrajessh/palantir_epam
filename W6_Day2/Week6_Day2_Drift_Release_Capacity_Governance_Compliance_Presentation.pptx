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Pasham" userId="258e79e8f28e7bf0" providerId="LiveId" clId="{00AE5380-EEB0-46CF-8D6C-2CBCE18BA485}"/>
    <pc:docChg chg="custSel modSld">
      <pc:chgData name="Rajesh Pasham" userId="258e79e8f28e7bf0" providerId="LiveId" clId="{00AE5380-EEB0-46CF-8D6C-2CBCE18BA485}" dt="2026-10-04T06:28:30.866" v="53" actId="6549"/>
      <pc:docMkLst>
        <pc:docMk/>
      </pc:docMkLst>
      <pc:sldChg chg="delSp modSp mod">
        <pc:chgData name="Rajesh Pasham" userId="258e79e8f28e7bf0" providerId="LiveId" clId="{00AE5380-EEB0-46CF-8D6C-2CBCE18BA485}" dt="2026-10-04T06:28:20.206" v="24" actId="478"/>
        <pc:sldMkLst>
          <pc:docMk/>
          <pc:sldMk cId="0" sldId="256"/>
        </pc:sldMkLst>
        <pc:spChg chg="mod">
          <ac:chgData name="Rajesh Pasham" userId="258e79e8f28e7bf0" providerId="LiveId" clId="{00AE5380-EEB0-46CF-8D6C-2CBCE18BA485}" dt="2026-10-04T06:28:14.118" v="23" actId="20577"/>
          <ac:spMkLst>
            <pc:docMk/>
            <pc:sldMk cId="0" sldId="256"/>
            <ac:spMk id="6" creationId="{00000000-0000-0000-0000-000000000000}"/>
          </ac:spMkLst>
        </pc:spChg>
        <pc:spChg chg="del">
          <ac:chgData name="Rajesh Pasham" userId="258e79e8f28e7bf0" providerId="LiveId" clId="{00AE5380-EEB0-46CF-8D6C-2CBCE18BA485}" dt="2026-10-04T06:28:20.206" v="24" actId="478"/>
          <ac:spMkLst>
            <pc:docMk/>
            <pc:sldMk cId="0" sldId="256"/>
            <ac:spMk id="9" creationId="{00000000-0000-0000-0000-000000000000}"/>
          </ac:spMkLst>
        </pc:spChg>
      </pc:sldChg>
      <pc:sldChg chg="modSp mod">
        <pc:chgData name="Rajesh Pasham" userId="258e79e8f28e7bf0" providerId="LiveId" clId="{00AE5380-EEB0-46CF-8D6C-2CBCE18BA485}" dt="2026-10-04T06:28:30.866" v="53" actId="6549"/>
        <pc:sldMkLst>
          <pc:docMk/>
          <pc:sldMk cId="0" sldId="257"/>
        </pc:sldMkLst>
        <pc:graphicFrameChg chg="modGraphic">
          <ac:chgData name="Rajesh Pasham" userId="258e79e8f28e7bf0" providerId="LiveId" clId="{00AE5380-EEB0-46CF-8D6C-2CBCE18BA485}" dt="2026-10-04T06:28:30.866" v="53" actId="6549"/>
          <ac:graphicFrameMkLst>
            <pc:docMk/>
            <pc:sldMk cId="0" sldId="257"/>
            <ac:graphicFrameMk id="5"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425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47"/>
        </a:solidFill>
        <a:effectLst/>
      </p:bgPr>
    </p:bg>
    <p:spTree>
      <p:nvGrpSpPr>
        <p:cNvPr id="1" name=""/>
        <p:cNvGrpSpPr/>
        <p:nvPr/>
      </p:nvGrpSpPr>
      <p:grpSpPr>
        <a:xfrm>
          <a:off x="0" y="0"/>
          <a:ext cx="0" cy="0"/>
          <a:chOff x="0" y="0"/>
          <a:chExt cx="0" cy="0"/>
        </a:xfrm>
      </p:grpSpPr>
      <p:sp>
        <p:nvSpPr>
          <p:cNvPr id="2" name="Text 0"/>
          <p:cNvSpPr/>
          <p:nvPr/>
        </p:nvSpPr>
        <p:spPr>
          <a:xfrm>
            <a:off x="822960" y="1325880"/>
            <a:ext cx="7315200" cy="457200"/>
          </a:xfrm>
          <a:prstGeom prst="rect">
            <a:avLst/>
          </a:prstGeom>
          <a:noFill/>
          <a:ln/>
        </p:spPr>
        <p:txBody>
          <a:bodyPr wrap="square" rtlCol="0" anchor="ctr"/>
          <a:lstStyle/>
          <a:p>
            <a:pPr marL="0" indent="0">
              <a:buNone/>
            </a:pPr>
            <a:r>
              <a:rPr lang="en-US" sz="1400" b="1" kern="0" spc="300" dirty="0">
                <a:solidFill>
                  <a:srgbClr val="B08D57"/>
                </a:solidFill>
                <a:latin typeface="Calibri" pitchFamily="34" charset="0"/>
                <a:ea typeface="Calibri" pitchFamily="34" charset="-122"/>
                <a:cs typeface="Calibri" pitchFamily="34" charset="-120"/>
              </a:rPr>
              <a:t>WEEK 6 · DAY 2</a:t>
            </a:r>
            <a:endParaRPr lang="en-US" sz="1400" dirty="0"/>
          </a:p>
        </p:txBody>
      </p:sp>
      <p:sp>
        <p:nvSpPr>
          <p:cNvPr id="3" name="Text 1"/>
          <p:cNvSpPr/>
          <p:nvPr/>
        </p:nvSpPr>
        <p:spPr>
          <a:xfrm>
            <a:off x="777240" y="1783080"/>
            <a:ext cx="100584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Drift, Cost, Release &amp;</a:t>
            </a:r>
            <a:endParaRPr lang="en-US" sz="4000" dirty="0"/>
          </a:p>
        </p:txBody>
      </p:sp>
      <p:sp>
        <p:nvSpPr>
          <p:cNvPr id="4" name="Text 2"/>
          <p:cNvSpPr/>
          <p:nvPr/>
        </p:nvSpPr>
        <p:spPr>
          <a:xfrm>
            <a:off x="777240" y="2514600"/>
            <a:ext cx="10332720" cy="1005840"/>
          </a:xfrm>
          <a:prstGeom prst="rect">
            <a:avLst/>
          </a:prstGeom>
          <a:noFill/>
          <a:ln/>
        </p:spPr>
        <p:txBody>
          <a:bodyPr wrap="square" rtlCol="0" anchor="ctr"/>
          <a:lstStyle/>
          <a:p>
            <a:pPr marL="0" indent="0">
              <a:buNone/>
            </a:pPr>
            <a:r>
              <a:rPr lang="en-US" sz="3400" b="1" dirty="0">
                <a:solidFill>
                  <a:srgbClr val="2E8B8B"/>
                </a:solidFill>
                <a:latin typeface="Cambria" pitchFamily="34" charset="0"/>
                <a:ea typeface="Cambria" pitchFamily="34" charset="-122"/>
                <a:cs typeface="Cambria" pitchFamily="34" charset="-120"/>
              </a:rPr>
              <a:t>Capacity, Governance &amp; Compliance</a:t>
            </a:r>
            <a:endParaRPr lang="en-US" sz="3400" dirty="0"/>
          </a:p>
        </p:txBody>
      </p:sp>
      <p:sp>
        <p:nvSpPr>
          <p:cNvPr id="5" name="Text 3"/>
          <p:cNvSpPr/>
          <p:nvPr/>
        </p:nvSpPr>
        <p:spPr>
          <a:xfrm>
            <a:off x="822960" y="3611880"/>
            <a:ext cx="9966960" cy="548640"/>
          </a:xfrm>
          <a:prstGeom prst="rect">
            <a:avLst/>
          </a:prstGeom>
          <a:noFill/>
          <a:ln/>
        </p:spPr>
        <p:txBody>
          <a:bodyPr wrap="square" rtlCol="0" anchor="ctr"/>
          <a:lstStyle/>
          <a:p>
            <a:pPr marL="0" indent="0">
              <a:buNone/>
            </a:pPr>
            <a:r>
              <a:rPr lang="en-US" sz="1700" i="1" dirty="0">
                <a:solidFill>
                  <a:srgbClr val="9AA8C9"/>
                </a:solidFill>
                <a:latin typeface="Calibri" pitchFamily="34" charset="0"/>
                <a:ea typeface="Calibri" pitchFamily="34" charset="-122"/>
                <a:cs typeface="Calibri" pitchFamily="34" charset="-120"/>
              </a:rPr>
              <a:t>From Signal to Action — Operating, Releasing, and Governing What Weeks 2–5 Built</a:t>
            </a:r>
            <a:endParaRPr lang="en-US" sz="1700" dirty="0"/>
          </a:p>
        </p:txBody>
      </p:sp>
      <p:sp>
        <p:nvSpPr>
          <p:cNvPr id="6" name="Text 4"/>
          <p:cNvSpPr/>
          <p:nvPr/>
        </p:nvSpPr>
        <p:spPr>
          <a:xfrm>
            <a:off x="822960" y="4160520"/>
            <a:ext cx="9601200" cy="365760"/>
          </a:xfrm>
          <a:prstGeom prst="rect">
            <a:avLst/>
          </a:prstGeom>
          <a:noFill/>
          <a:ln/>
        </p:spPr>
        <p:txBody>
          <a:bodyPr wrap="square" rtlCol="0" anchor="ctr"/>
          <a:lstStyle/>
          <a:p>
            <a:pPr marL="0" indent="0">
              <a:buNone/>
            </a:pPr>
            <a:r>
              <a:rPr lang="en-US" sz="1300" dirty="0">
                <a:solidFill>
                  <a:srgbClr val="9AA0A6"/>
                </a:solidFill>
                <a:latin typeface="Calibri" pitchFamily="34" charset="0"/>
                <a:ea typeface="Calibri" pitchFamily="34" charset="-122"/>
                <a:cs typeface="Calibri" pitchFamily="34" charset="-120"/>
              </a:rPr>
              <a:t>1-Hour Lecture Session — Concepts &amp; Architecture</a:t>
            </a:r>
            <a:endParaRPr lang="en-US" sz="1300" dirty="0"/>
          </a:p>
        </p:txBody>
      </p:sp>
      <p:sp>
        <p:nvSpPr>
          <p:cNvPr id="7" name="Shape 5"/>
          <p:cNvSpPr/>
          <p:nvPr/>
        </p:nvSpPr>
        <p:spPr>
          <a:xfrm>
            <a:off x="822960" y="4709160"/>
            <a:ext cx="1280160" cy="0"/>
          </a:xfrm>
          <a:prstGeom prst="line">
            <a:avLst/>
          </a:prstGeom>
          <a:noFill/>
          <a:ln w="25400">
            <a:solidFill>
              <a:srgbClr val="B08D57"/>
            </a:solidFill>
            <a:prstDash val="solid"/>
          </a:ln>
        </p:spPr>
      </p:sp>
      <p:sp>
        <p:nvSpPr>
          <p:cNvPr id="8" name="Text 6"/>
          <p:cNvSpPr/>
          <p:nvPr/>
        </p:nvSpPr>
        <p:spPr>
          <a:xfrm>
            <a:off x="822960" y="4846320"/>
            <a:ext cx="5486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Rajesh Pasham</a:t>
            </a:r>
            <a:endParaRPr lang="en-US" sz="1400" dirty="0"/>
          </a:p>
        </p:txBody>
      </p:sp>
      <p:sp>
        <p:nvSpPr>
          <p:cNvPr id="10" name="Text 8"/>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1" name="Text 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Program Context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How today's session fits the wider 8-week delivery</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3594602601"/>
              </p:ext>
            </p:extLst>
          </p:nvPr>
        </p:nvGraphicFramePr>
        <p:xfrm>
          <a:off x="548640" y="1737360"/>
          <a:ext cx="11064240" cy="3108960"/>
        </p:xfrm>
        <a:graphic>
          <a:graphicData uri="http://schemas.openxmlformats.org/drawingml/2006/table">
            <a:tbl>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Session Type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Concepts and architecture lecture </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Audience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India and Europe batches together — this session is common to all four batches</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This Week's Focus</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Production AIP, LLMOps &amp; Governance — hardening the Copilots, chatbots, and agent workflows built in Weeks 2–5</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This Week's Deliverable (Day 3)</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 Production Readiness Package: an evaluation suite, an observability dashboard, and a release plan</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7"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Bridge From Day 1</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Yesterday gave you the signal; today is what you do with it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48640" y="1600200"/>
            <a:ext cx="11064240" cy="1645920"/>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Yesterday's AIP Evals and Foundry Observability gave you a way to know whether your functions and chatbots are behaving correctly, right now. That is a signal, not an operation. Today turns that signal into action: what do you do when a function's behavior quietly shifts? How do you roll out a changed prompt without risking every user at once? How do you plan for a traffic spike before it happens? And who is allowed to change any of this in the first place, with what trail left behind?</a:t>
            </a:r>
            <a:endParaRPr lang="en-US" sz="1600" dirty="0"/>
          </a:p>
        </p:txBody>
      </p:sp>
      <p:sp>
        <p:nvSpPr>
          <p:cNvPr id="6" name="Shape 4"/>
          <p:cNvSpPr/>
          <p:nvPr/>
        </p:nvSpPr>
        <p:spPr>
          <a:xfrm>
            <a:off x="548640" y="3337560"/>
            <a:ext cx="11064240" cy="2468880"/>
          </a:xfrm>
          <a:prstGeom prst="roundRect">
            <a:avLst>
              <a:gd name="adj" fmla="val 2963"/>
            </a:avLst>
          </a:prstGeom>
          <a:solidFill>
            <a:srgbClr val="E6ECFB"/>
          </a:solidFill>
          <a:ln w="12700">
            <a:solidFill>
              <a:srgbClr val="D8DCE6"/>
            </a:solidFill>
            <a:prstDash val="solid"/>
          </a:ln>
        </p:spPr>
      </p:sp>
      <p:sp>
        <p:nvSpPr>
          <p:cNvPr id="7" name="Text 5"/>
          <p:cNvSpPr/>
          <p:nvPr/>
        </p:nvSpPr>
        <p:spPr>
          <a:xfrm>
            <a:off x="868680" y="3520440"/>
            <a:ext cx="10424160" cy="2194560"/>
          </a:xfrm>
          <a:prstGeom prst="rect">
            <a:avLst/>
          </a:prstGeom>
          <a:noFill/>
          <a:ln/>
        </p:spPr>
        <p:txBody>
          <a:bodyPr wrap="square" rtlCol="0" anchor="ctr"/>
          <a:lstStyle/>
          <a:p>
            <a:pPr marL="0" indent="0">
              <a:lnSpc>
                <a:spcPct val="120000"/>
              </a:lnSpc>
              <a:buNone/>
            </a:pPr>
            <a:r>
              <a:rPr lang="en-US" sz="1500" b="1" dirty="0">
                <a:solidFill>
                  <a:srgbClr val="1F3864"/>
                </a:solidFill>
                <a:latin typeface="Calibri" pitchFamily="34" charset="0"/>
                <a:ea typeface="Calibri" pitchFamily="34" charset="-122"/>
                <a:cs typeface="Calibri" pitchFamily="34" charset="-120"/>
              </a:rPr>
              <a:t>Not new theory in isolation — it is the same evaluation and observability foundation from Day 1, now put to operational and governance use.
</a:t>
            </a:r>
            <a:r>
              <a:rPr lang="en-US" sz="1400" dirty="0">
                <a:solidFill>
                  <a:srgbClr val="222222"/>
                </a:solidFill>
                <a:latin typeface="Calibri" pitchFamily="34" charset="0"/>
                <a:ea typeface="Calibri" pitchFamily="34" charset="-122"/>
                <a:cs typeface="Calibri" pitchFamily="34" charset="-120"/>
              </a:rPr>
              <a:t>Today's six topics — drift monitoring, cost management, release strategy, capacity planning, AI governance and responsible AI, and audit and compliance — complete the production-readiness bar Day 1 started. We will not re-teach the LLMOps lifecycle, prompt versioning, AIP Evals, or Foundry Observability in depth today — we assume you have that vocabulary, and we build directly on it, using the same Batch 1 through 4 functions and chatbots as worked examples.</a:t>
            </a:r>
            <a:endParaRPr lang="en-US" sz="15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Today's Roadmap</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Six topic groups, closing out the Week 6 Production Readiness Package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645920"/>
            <a:ext cx="566928" cy="566928"/>
          </a:xfrm>
          <a:prstGeom prst="roundRect">
            <a:avLst>
              <a:gd name="adj" fmla="val 80645"/>
            </a:avLst>
          </a:prstGeom>
          <a:solidFill>
            <a:srgbClr val="1F3864"/>
          </a:solidFill>
          <a:ln/>
        </p:spPr>
      </p:sp>
      <p:sp>
        <p:nvSpPr>
          <p:cNvPr id="6" name="Text 4"/>
          <p:cNvSpPr/>
          <p:nvPr/>
        </p:nvSpPr>
        <p:spPr>
          <a:xfrm>
            <a:off x="548640" y="1645920"/>
            <a:ext cx="566928" cy="566928"/>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325880" y="1609344"/>
            <a:ext cx="10149840" cy="347472"/>
          </a:xfrm>
          <a:prstGeom prst="rect">
            <a:avLst/>
          </a:prstGeom>
          <a:noFill/>
          <a:ln/>
        </p:spPr>
        <p:txBody>
          <a:bodyPr wrap="square" rtlCol="0" anchor="ctr"/>
          <a:lstStyle/>
          <a:p>
            <a:pPr marL="0" indent="0">
              <a:buNone/>
            </a:pPr>
            <a:r>
              <a:rPr lang="en-US" sz="1650" b="1" dirty="0">
                <a:solidFill>
                  <a:srgbClr val="1F3864"/>
                </a:solidFill>
                <a:latin typeface="Cambria" pitchFamily="34" charset="0"/>
                <a:ea typeface="Cambria" pitchFamily="34" charset="-122"/>
                <a:cs typeface="Cambria" pitchFamily="34" charset="-120"/>
              </a:rPr>
              <a:t>Drift Monitoring</a:t>
            </a:r>
            <a:endParaRPr lang="en-US" sz="1650" dirty="0"/>
          </a:p>
        </p:txBody>
      </p:sp>
      <p:sp>
        <p:nvSpPr>
          <p:cNvPr id="8" name="Text 6"/>
          <p:cNvSpPr/>
          <p:nvPr/>
        </p:nvSpPr>
        <p:spPr>
          <a:xfrm>
            <a:off x="1325880" y="1938528"/>
            <a:ext cx="10149840" cy="45720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Catching the moment an LLM-powered function's behavior quietly shifts, with no code change to point to</a:t>
            </a:r>
            <a:endParaRPr lang="en-US" sz="1300" dirty="0"/>
          </a:p>
        </p:txBody>
      </p:sp>
      <p:sp>
        <p:nvSpPr>
          <p:cNvPr id="9" name="Shape 7"/>
          <p:cNvSpPr/>
          <p:nvPr/>
        </p:nvSpPr>
        <p:spPr>
          <a:xfrm>
            <a:off x="548640" y="2432304"/>
            <a:ext cx="566928" cy="566928"/>
          </a:xfrm>
          <a:prstGeom prst="roundRect">
            <a:avLst>
              <a:gd name="adj" fmla="val 80645"/>
            </a:avLst>
          </a:prstGeom>
          <a:solidFill>
            <a:srgbClr val="1F3864"/>
          </a:solidFill>
          <a:ln/>
        </p:spPr>
      </p:sp>
      <p:sp>
        <p:nvSpPr>
          <p:cNvPr id="10" name="Text 8"/>
          <p:cNvSpPr/>
          <p:nvPr/>
        </p:nvSpPr>
        <p:spPr>
          <a:xfrm>
            <a:off x="548640" y="2432304"/>
            <a:ext cx="566928" cy="566928"/>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1" name="Text 9"/>
          <p:cNvSpPr/>
          <p:nvPr/>
        </p:nvSpPr>
        <p:spPr>
          <a:xfrm>
            <a:off x="1325880" y="2395728"/>
            <a:ext cx="10149840" cy="347472"/>
          </a:xfrm>
          <a:prstGeom prst="rect">
            <a:avLst/>
          </a:prstGeom>
          <a:noFill/>
          <a:ln/>
        </p:spPr>
        <p:txBody>
          <a:bodyPr wrap="square" rtlCol="0" anchor="ctr"/>
          <a:lstStyle/>
          <a:p>
            <a:pPr marL="0" indent="0">
              <a:buNone/>
            </a:pPr>
            <a:r>
              <a:rPr lang="en-US" sz="1650" b="1" dirty="0">
                <a:solidFill>
                  <a:srgbClr val="1F3864"/>
                </a:solidFill>
                <a:latin typeface="Cambria" pitchFamily="34" charset="0"/>
                <a:ea typeface="Cambria" pitchFamily="34" charset="-122"/>
                <a:cs typeface="Cambria" pitchFamily="34" charset="-120"/>
              </a:rPr>
              <a:t>Cost Management</a:t>
            </a:r>
            <a:endParaRPr lang="en-US" sz="1650" dirty="0"/>
          </a:p>
        </p:txBody>
      </p:sp>
      <p:sp>
        <p:nvSpPr>
          <p:cNvPr id="12" name="Text 10"/>
          <p:cNvSpPr/>
          <p:nvPr/>
        </p:nvSpPr>
        <p:spPr>
          <a:xfrm>
            <a:off x="1325880" y="2724912"/>
            <a:ext cx="10149840" cy="45720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Token and cost tracking as a discipline your team establishes, applied to the costliest blocks in your own functions</a:t>
            </a:r>
            <a:endParaRPr lang="en-US" sz="1300" dirty="0"/>
          </a:p>
        </p:txBody>
      </p:sp>
      <p:sp>
        <p:nvSpPr>
          <p:cNvPr id="13" name="Shape 11"/>
          <p:cNvSpPr/>
          <p:nvPr/>
        </p:nvSpPr>
        <p:spPr>
          <a:xfrm>
            <a:off x="548640" y="3218688"/>
            <a:ext cx="566928" cy="566928"/>
          </a:xfrm>
          <a:prstGeom prst="roundRect">
            <a:avLst>
              <a:gd name="adj" fmla="val 80645"/>
            </a:avLst>
          </a:prstGeom>
          <a:solidFill>
            <a:srgbClr val="1F3864"/>
          </a:solidFill>
          <a:ln/>
        </p:spPr>
      </p:sp>
      <p:sp>
        <p:nvSpPr>
          <p:cNvPr id="14" name="Text 12"/>
          <p:cNvSpPr/>
          <p:nvPr/>
        </p:nvSpPr>
        <p:spPr>
          <a:xfrm>
            <a:off x="548640" y="3218688"/>
            <a:ext cx="566928" cy="566928"/>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5" name="Text 13"/>
          <p:cNvSpPr/>
          <p:nvPr/>
        </p:nvSpPr>
        <p:spPr>
          <a:xfrm>
            <a:off x="1325880" y="3182112"/>
            <a:ext cx="10149840" cy="347472"/>
          </a:xfrm>
          <a:prstGeom prst="rect">
            <a:avLst/>
          </a:prstGeom>
          <a:noFill/>
          <a:ln/>
        </p:spPr>
        <p:txBody>
          <a:bodyPr wrap="square" rtlCol="0" anchor="ctr"/>
          <a:lstStyle/>
          <a:p>
            <a:pPr marL="0" indent="0">
              <a:buNone/>
            </a:pPr>
            <a:r>
              <a:rPr lang="en-US" sz="1650" b="1" dirty="0">
                <a:solidFill>
                  <a:srgbClr val="1F3864"/>
                </a:solidFill>
                <a:latin typeface="Cambria" pitchFamily="34" charset="0"/>
                <a:ea typeface="Cambria" pitchFamily="34" charset="-122"/>
                <a:cs typeface="Cambria" pitchFamily="34" charset="-120"/>
              </a:rPr>
              <a:t>Release Strategy</a:t>
            </a:r>
            <a:endParaRPr lang="en-US" sz="1650" dirty="0"/>
          </a:p>
        </p:txBody>
      </p:sp>
      <p:sp>
        <p:nvSpPr>
          <p:cNvPr id="16" name="Text 14"/>
          <p:cNvSpPr/>
          <p:nvPr/>
        </p:nvSpPr>
        <p:spPr>
          <a:xfrm>
            <a:off x="1325880" y="3511296"/>
            <a:ext cx="10149840" cy="45720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Staged rollout for a changed prompt or model, the LLMOps equivalent of a blue/green deployment</a:t>
            </a:r>
            <a:endParaRPr lang="en-US" sz="1300" dirty="0"/>
          </a:p>
        </p:txBody>
      </p:sp>
      <p:sp>
        <p:nvSpPr>
          <p:cNvPr id="17" name="Shape 15"/>
          <p:cNvSpPr/>
          <p:nvPr/>
        </p:nvSpPr>
        <p:spPr>
          <a:xfrm>
            <a:off x="548640" y="4005072"/>
            <a:ext cx="566928" cy="566928"/>
          </a:xfrm>
          <a:prstGeom prst="roundRect">
            <a:avLst>
              <a:gd name="adj" fmla="val 80645"/>
            </a:avLst>
          </a:prstGeom>
          <a:solidFill>
            <a:srgbClr val="1F3864"/>
          </a:solidFill>
          <a:ln/>
        </p:spPr>
      </p:sp>
      <p:sp>
        <p:nvSpPr>
          <p:cNvPr id="18" name="Text 16"/>
          <p:cNvSpPr/>
          <p:nvPr/>
        </p:nvSpPr>
        <p:spPr>
          <a:xfrm>
            <a:off x="548640" y="4005072"/>
            <a:ext cx="566928" cy="566928"/>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19" name="Text 17"/>
          <p:cNvSpPr/>
          <p:nvPr/>
        </p:nvSpPr>
        <p:spPr>
          <a:xfrm>
            <a:off x="1325880" y="3968496"/>
            <a:ext cx="10149840" cy="347472"/>
          </a:xfrm>
          <a:prstGeom prst="rect">
            <a:avLst/>
          </a:prstGeom>
          <a:noFill/>
          <a:ln/>
        </p:spPr>
        <p:txBody>
          <a:bodyPr wrap="square" rtlCol="0" anchor="ctr"/>
          <a:lstStyle/>
          <a:p>
            <a:pPr marL="0" indent="0">
              <a:buNone/>
            </a:pPr>
            <a:r>
              <a:rPr lang="en-US" sz="1650" b="1" dirty="0">
                <a:solidFill>
                  <a:srgbClr val="1F3864"/>
                </a:solidFill>
                <a:latin typeface="Cambria" pitchFamily="34" charset="0"/>
                <a:ea typeface="Cambria" pitchFamily="34" charset="-122"/>
                <a:cs typeface="Cambria" pitchFamily="34" charset="-120"/>
              </a:rPr>
              <a:t>Capacity Planning</a:t>
            </a:r>
            <a:endParaRPr lang="en-US" sz="1650" dirty="0"/>
          </a:p>
        </p:txBody>
      </p:sp>
      <p:sp>
        <p:nvSpPr>
          <p:cNvPr id="20" name="Text 18"/>
          <p:cNvSpPr/>
          <p:nvPr/>
        </p:nvSpPr>
        <p:spPr>
          <a:xfrm>
            <a:off x="1325880" y="4297680"/>
            <a:ext cx="10149840" cy="45720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Anticipating traffic and load before it arrives, not reacting to it after</a:t>
            </a:r>
            <a:endParaRPr lang="en-US" sz="1300" dirty="0"/>
          </a:p>
        </p:txBody>
      </p:sp>
      <p:sp>
        <p:nvSpPr>
          <p:cNvPr id="21" name="Shape 19"/>
          <p:cNvSpPr/>
          <p:nvPr/>
        </p:nvSpPr>
        <p:spPr>
          <a:xfrm>
            <a:off x="548640" y="4791456"/>
            <a:ext cx="566928" cy="566928"/>
          </a:xfrm>
          <a:prstGeom prst="roundRect">
            <a:avLst>
              <a:gd name="adj" fmla="val 80645"/>
            </a:avLst>
          </a:prstGeom>
          <a:solidFill>
            <a:srgbClr val="1F3864"/>
          </a:solidFill>
          <a:ln/>
        </p:spPr>
      </p:sp>
      <p:sp>
        <p:nvSpPr>
          <p:cNvPr id="22" name="Text 20"/>
          <p:cNvSpPr/>
          <p:nvPr/>
        </p:nvSpPr>
        <p:spPr>
          <a:xfrm>
            <a:off x="548640" y="4791456"/>
            <a:ext cx="566928" cy="566928"/>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5</a:t>
            </a:r>
            <a:endParaRPr lang="en-US" sz="1900" dirty="0"/>
          </a:p>
        </p:txBody>
      </p:sp>
      <p:sp>
        <p:nvSpPr>
          <p:cNvPr id="23" name="Text 21"/>
          <p:cNvSpPr/>
          <p:nvPr/>
        </p:nvSpPr>
        <p:spPr>
          <a:xfrm>
            <a:off x="1325880" y="4754880"/>
            <a:ext cx="10149840" cy="347472"/>
          </a:xfrm>
          <a:prstGeom prst="rect">
            <a:avLst/>
          </a:prstGeom>
          <a:noFill/>
          <a:ln/>
        </p:spPr>
        <p:txBody>
          <a:bodyPr wrap="square" rtlCol="0" anchor="ctr"/>
          <a:lstStyle/>
          <a:p>
            <a:pPr marL="0" indent="0">
              <a:buNone/>
            </a:pPr>
            <a:r>
              <a:rPr lang="en-US" sz="1650" b="1" dirty="0">
                <a:solidFill>
                  <a:srgbClr val="1F3864"/>
                </a:solidFill>
                <a:latin typeface="Cambria" pitchFamily="34" charset="0"/>
                <a:ea typeface="Cambria" pitchFamily="34" charset="-122"/>
                <a:cs typeface="Cambria" pitchFamily="34" charset="-120"/>
              </a:rPr>
              <a:t>AI Governance &amp; Responsible AI</a:t>
            </a:r>
            <a:endParaRPr lang="en-US" sz="1650" dirty="0"/>
          </a:p>
        </p:txBody>
      </p:sp>
      <p:sp>
        <p:nvSpPr>
          <p:cNvPr id="24" name="Text 22"/>
          <p:cNvSpPr/>
          <p:nvPr/>
        </p:nvSpPr>
        <p:spPr>
          <a:xfrm>
            <a:off x="1325880" y="5084064"/>
            <a:ext cx="10149840" cy="45720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Applying Foundry's Roles, Markings, and Security Policies to AI-specific risks</a:t>
            </a:r>
            <a:endParaRPr lang="en-US" sz="1300" dirty="0"/>
          </a:p>
        </p:txBody>
      </p:sp>
      <p:sp>
        <p:nvSpPr>
          <p:cNvPr id="25" name="Shape 23"/>
          <p:cNvSpPr/>
          <p:nvPr/>
        </p:nvSpPr>
        <p:spPr>
          <a:xfrm>
            <a:off x="548640" y="5577840"/>
            <a:ext cx="566928" cy="566928"/>
          </a:xfrm>
          <a:prstGeom prst="roundRect">
            <a:avLst>
              <a:gd name="adj" fmla="val 80645"/>
            </a:avLst>
          </a:prstGeom>
          <a:solidFill>
            <a:srgbClr val="1F3864"/>
          </a:solidFill>
          <a:ln/>
        </p:spPr>
      </p:sp>
      <p:sp>
        <p:nvSpPr>
          <p:cNvPr id="26" name="Text 24"/>
          <p:cNvSpPr/>
          <p:nvPr/>
        </p:nvSpPr>
        <p:spPr>
          <a:xfrm>
            <a:off x="548640" y="5577840"/>
            <a:ext cx="566928" cy="566928"/>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6</a:t>
            </a:r>
            <a:endParaRPr lang="en-US" sz="1900" dirty="0"/>
          </a:p>
        </p:txBody>
      </p:sp>
      <p:sp>
        <p:nvSpPr>
          <p:cNvPr id="27" name="Text 25"/>
          <p:cNvSpPr/>
          <p:nvPr/>
        </p:nvSpPr>
        <p:spPr>
          <a:xfrm>
            <a:off x="1325880" y="5541264"/>
            <a:ext cx="10149840" cy="347472"/>
          </a:xfrm>
          <a:prstGeom prst="rect">
            <a:avLst/>
          </a:prstGeom>
          <a:noFill/>
          <a:ln/>
        </p:spPr>
        <p:txBody>
          <a:bodyPr wrap="square" rtlCol="0" anchor="ctr"/>
          <a:lstStyle/>
          <a:p>
            <a:pPr marL="0" indent="0">
              <a:buNone/>
            </a:pPr>
            <a:r>
              <a:rPr lang="en-US" sz="1650" b="1" dirty="0">
                <a:solidFill>
                  <a:srgbClr val="1F3864"/>
                </a:solidFill>
                <a:latin typeface="Cambria" pitchFamily="34" charset="0"/>
                <a:ea typeface="Cambria" pitchFamily="34" charset="-122"/>
                <a:cs typeface="Cambria" pitchFamily="34" charset="-120"/>
              </a:rPr>
              <a:t>Audit &amp; Compliance</a:t>
            </a:r>
            <a:endParaRPr lang="en-US" sz="1650" dirty="0"/>
          </a:p>
        </p:txBody>
      </p:sp>
      <p:sp>
        <p:nvSpPr>
          <p:cNvPr id="28" name="Text 26"/>
          <p:cNvSpPr/>
          <p:nvPr/>
        </p:nvSpPr>
        <p:spPr>
          <a:xfrm>
            <a:off x="1325880" y="5870448"/>
            <a:ext cx="10149840" cy="457200"/>
          </a:xfrm>
          <a:prstGeom prst="rect">
            <a:avLst/>
          </a:prstGeom>
          <a:noFill/>
          <a:ln/>
        </p:spPr>
        <p:txBody>
          <a:bodyPr wrap="square" rtlCol="0" anchor="ctr"/>
          <a:lstStyle/>
          <a:p>
            <a:pPr marL="0" indent="0">
              <a:buNone/>
            </a:pPr>
            <a:r>
              <a:rPr lang="en-US" sz="1300" dirty="0">
                <a:solidFill>
                  <a:srgbClr val="5A5A5A"/>
                </a:solidFill>
                <a:latin typeface="Calibri" pitchFamily="34" charset="0"/>
                <a:ea typeface="Calibri" pitchFamily="34" charset="-122"/>
                <a:cs typeface="Calibri" pitchFamily="34" charset="-120"/>
              </a:rPr>
              <a:t>Using Foundry's Data Lineage and Audit Trails to answer exactly why a chatbot did what it did</a:t>
            </a:r>
            <a:endParaRPr lang="en-US" sz="1300" dirty="0"/>
          </a:p>
        </p:txBody>
      </p:sp>
      <p:sp>
        <p:nvSpPr>
          <p:cNvPr id="29" name="Text 2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30" name="Text 2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By the End of Today</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vocabulary Wednesday's self-paced build assumes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Explain what drift means for an LLM-powered function and why it can occur with no code change</a:t>
            </a:r>
            <a:endParaRPr lang="en-US" sz="1700" dirty="0"/>
          </a:p>
        </p:txBody>
      </p:sp>
      <p:sp>
        <p:nvSpPr>
          <p:cNvPr id="7" name="Text 5"/>
          <p:cNvSpPr/>
          <p:nvPr/>
        </p:nvSpPr>
        <p:spPr>
          <a:xfrm>
            <a:off x="1051560" y="2212848"/>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Tied to a concrete function you've already built and published</a:t>
            </a:r>
            <a:endParaRPr lang="en-US" sz="1400" dirty="0"/>
          </a:p>
        </p:txBody>
      </p:sp>
      <p:sp>
        <p:nvSpPr>
          <p:cNvPr id="8" name="Text 6"/>
          <p:cNvSpPr/>
          <p:nvPr/>
        </p:nvSpPr>
        <p:spPr>
          <a:xfrm>
            <a:off x="594360" y="3297936"/>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Describe cost management as an LLMOps discipline and identify which block types in a function are costliest to run at scale</a:t>
            </a:r>
            <a:endParaRPr lang="en-US" sz="1700" dirty="0"/>
          </a:p>
        </p:txBody>
      </p:sp>
      <p:sp>
        <p:nvSpPr>
          <p:cNvPr id="10" name="Text 8"/>
          <p:cNvSpPr/>
          <p:nvPr/>
        </p:nvSpPr>
        <p:spPr>
          <a:xfrm>
            <a:off x="1051560" y="3773424"/>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 Use LLM block versus a deterministic Object-category block</a:t>
            </a:r>
            <a:endParaRPr lang="en-US" sz="1400" dirty="0"/>
          </a:p>
        </p:txBody>
      </p:sp>
      <p:sp>
        <p:nvSpPr>
          <p:cNvPr id="11" name="Text 9"/>
          <p:cNvSpPr/>
          <p:nvPr/>
        </p:nvSpPr>
        <p:spPr>
          <a:xfrm>
            <a:off x="594360" y="4858512"/>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Describe a staged release strategy for a prompt or model change</a:t>
            </a:r>
            <a:endParaRPr lang="en-US" sz="1700" dirty="0"/>
          </a:p>
        </p:txBody>
      </p:sp>
      <p:sp>
        <p:nvSpPr>
          <p:cNvPr id="13" name="Text 11"/>
          <p:cNvSpPr/>
          <p:nvPr/>
        </p:nvSpPr>
        <p:spPr>
          <a:xfrm>
            <a:off x="1051560" y="5334000"/>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And why it is the same discipline a blue/green deployment gives ordinary application code</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By the End of Today</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vocabulary Wednesday's self-paced build assumes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Explain capacity planning for an LLM-powered system</a:t>
            </a:r>
            <a:endParaRPr lang="en-US" sz="1700" dirty="0"/>
          </a:p>
        </p:txBody>
      </p:sp>
      <p:sp>
        <p:nvSpPr>
          <p:cNvPr id="7" name="Text 5"/>
          <p:cNvSpPr/>
          <p:nvPr/>
        </p:nvSpPr>
        <p:spPr>
          <a:xfrm>
            <a:off x="1051560" y="2212848"/>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Anticipating a traffic or load spike before it arrives, for a chatbot you've already built</a:t>
            </a:r>
            <a:endParaRPr lang="en-US" sz="1400" dirty="0"/>
          </a:p>
        </p:txBody>
      </p:sp>
      <p:sp>
        <p:nvSpPr>
          <p:cNvPr id="8" name="Text 6"/>
          <p:cNvSpPr/>
          <p:nvPr/>
        </p:nvSpPr>
        <p:spPr>
          <a:xfrm>
            <a:off x="594360" y="3297936"/>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Apply Foundry's confirmed governance primitives — Roles, Markings, Security Policies — to an AI-specific risk</a:t>
            </a:r>
            <a:endParaRPr lang="en-US" sz="1700" dirty="0"/>
          </a:p>
        </p:txBody>
      </p:sp>
      <p:sp>
        <p:nvSpPr>
          <p:cNvPr id="10" name="Text 8"/>
          <p:cNvSpPr/>
          <p:nvPr/>
        </p:nvSpPr>
        <p:spPr>
          <a:xfrm>
            <a:off x="1051560" y="3773424"/>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Such as a chatbot's Action tool having unchecked write access</a:t>
            </a:r>
            <a:endParaRPr lang="en-US" sz="1400" dirty="0"/>
          </a:p>
        </p:txBody>
      </p:sp>
      <p:sp>
        <p:nvSpPr>
          <p:cNvPr id="11" name="Text 9"/>
          <p:cNvSpPr/>
          <p:nvPr/>
        </p:nvSpPr>
        <p:spPr>
          <a:xfrm>
            <a:off x="594360" y="4858512"/>
            <a:ext cx="411480" cy="420624"/>
          </a:xfrm>
          <a:prstGeom prst="rect">
            <a:avLst/>
          </a:prstGeom>
          <a:noFill/>
          <a:ln/>
        </p:spPr>
        <p:txBody>
          <a:bodyPr wrap="square" rtlCol="0" anchor="ctr"/>
          <a:lstStyle/>
          <a:p>
            <a:pPr marL="0" indent="0">
              <a:buNone/>
            </a:pPr>
            <a:r>
              <a:rPr lang="en-US" sz="1900" b="1" dirty="0">
                <a:solidFill>
                  <a:srgbClr val="2E8B8B"/>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700" b="1" dirty="0">
                <a:solidFill>
                  <a:srgbClr val="222222"/>
                </a:solidFill>
                <a:latin typeface="Calibri" pitchFamily="34" charset="0"/>
                <a:ea typeface="Calibri" pitchFamily="34" charset="-122"/>
                <a:cs typeface="Calibri" pitchFamily="34" charset="-120"/>
              </a:rPr>
              <a:t>Apply Foundry's Data Lineage and Audit Trails to trace why an AIP Chatbot took a specific action</a:t>
            </a:r>
            <a:endParaRPr lang="en-US" sz="1700" dirty="0"/>
          </a:p>
        </p:txBody>
      </p:sp>
      <p:sp>
        <p:nvSpPr>
          <p:cNvPr id="13" name="Text 11"/>
          <p:cNvSpPr/>
          <p:nvPr/>
        </p:nvSpPr>
        <p:spPr>
          <a:xfrm>
            <a:off x="1051560" y="5334000"/>
            <a:ext cx="10332720" cy="457200"/>
          </a:xfrm>
          <a:prstGeom prst="rect">
            <a:avLst/>
          </a:prstGeom>
          <a:noFill/>
          <a:ln/>
        </p:spPr>
        <p:txBody>
          <a:bodyPr wrap="square" rtlCol="0" anchor="ctr"/>
          <a:lstStyle/>
          <a:p>
            <a:pPr marL="0" indent="0">
              <a:buNone/>
            </a:pPr>
            <a:r>
              <a:rPr lang="en-US" sz="1400" i="1" dirty="0">
                <a:solidFill>
                  <a:srgbClr val="5A5A5A"/>
                </a:solidFill>
                <a:latin typeface="Calibri" pitchFamily="34" charset="0"/>
                <a:ea typeface="Calibri" pitchFamily="34" charset="-122"/>
                <a:cs typeface="Calibri" pitchFamily="34" charset="-120"/>
              </a:rPr>
              <a:t>Closing the loop on the Week 6 Production Readiness Package ahead of Day 3's self-paced build</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1</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Drift Monitoring</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Catching a quiet shift in behavior that no code change would ever flag</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Drift Means for an LLM-Powered Function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Not the input-distribution drift classical MLOps watches for — a different, LLM-specific kind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function's code and prompt can stay identical while its judgment shifts</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platform-level model update, or a subtle change in how the underlying model interprets an unchanged prompt, can shift a function's output quality with absolutely nothing in your Ontology or AIP Logic canvas showing as changed.</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Concretely, in a function you've already built</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If FraudRiskAssessment's (Batch 1) underlying model is swapped or its prompt is edited elsewhere, the same claim that used to evaluate recommendedFraudAction = OpenInvestigation at claimAmount = 48,000 could start evaluating Escalate instead, with no code change flagged anywhere — that is the drift this discipline exists to catch.</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Drift Means for an LLM-Powered Function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Not the input-distribution drift classical MLOps watches for — a different, LLM-specific kind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Drift is why evaluation from Day 1 has to be continuous, not a one-time gate</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AIP Evals gives you the mechanism — re-running an Evaluation Suite's Test Cases periodically, not just once at launch, and comparing Metrics across those runs over time, is literally how drift gets detected in practice.</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How a Team Actually Catches Drift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Combining Day 1's building blocks into an ongoing discipline — not a new named Palantir feature, a practice you run on confirmed tools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Re-run the Evaluation Suite on a schedule, not just on change</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same Evaluation Suite built for RiskScoreRefresh (Batch 2) — Target Function RiskScoreRefresh, its Test Cases, its Evaluation Function — gets re-run weekly or after any platform-level model update notice, and its pass-rate Metric gets compared against last week's, not just against a pass/fail threshold in isolation.</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Watch Foundry Observability's confirmed metrics for a trend, not just a spike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Foundry Observability's confirmed per-resource success/failure counts and P95 execution duration for ComplianceReadinessCheck (Batch 3) can surface a slow behavioral shift indirectly — a rising failure rate or a widening duration spread over 30 days is a signal worth investigating even before a user complains.</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How a Team Actually Catches Drift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Combining Day 1's building blocks into an ongoing discipline — not a new named Palantir feature, a practice you run on confirmed tools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Export traces for a longer-horizon comparison</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Exporting a month of the Fraud Detection Chatbot's (Batch 1) traces, as Day 1's Analysis capability described, and comparing how often it recommends OpenInvestigation this month against last month is a concrete way to catch a drift Day 1's single-run evals would miss.</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Drift Monitoring in Practice: A Worked Example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Tracing a quiet shift in CoverageRecommendationAssessment (Batch 4) from first symptom to confirmed drift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2225040"/>
            <a:ext cx="502920" cy="502920"/>
          </a:xfrm>
          <a:prstGeom prst="roundRect">
            <a:avLst>
              <a:gd name="adj" fmla="val 50909"/>
            </a:avLst>
          </a:prstGeom>
          <a:solidFill>
            <a:srgbClr val="2E8B8B"/>
          </a:solidFill>
          <a:ln/>
        </p:spPr>
      </p:sp>
      <p:sp>
        <p:nvSpPr>
          <p:cNvPr id="6" name="Text 4"/>
          <p:cNvSpPr/>
          <p:nvPr/>
        </p:nvSpPr>
        <p:spPr>
          <a:xfrm>
            <a:off x="548640" y="222504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 support rep notices CoverageRecommendationAssessment is recommending Escalate more often than it used to</a:t>
            </a:r>
            <a:endParaRPr lang="en-US" sz="1600" dirty="0"/>
          </a:p>
        </p:txBody>
      </p:sp>
      <p:sp>
        <p:nvSpPr>
          <p:cNvPr id="8" name="Text 6"/>
          <p:cNvSpPr/>
          <p:nvPr/>
        </p:nvSpPr>
        <p:spPr>
          <a:xfrm>
            <a:off x="1234440" y="207568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No alert fired, no error appeared in the logs — Day 1 already established that a clean error log does not mean correct behavior, and this is exactly that gap surfacing.</a:t>
            </a:r>
            <a:endParaRPr lang="en-US" sz="1400" dirty="0"/>
          </a:p>
        </p:txBody>
      </p:sp>
      <p:sp>
        <p:nvSpPr>
          <p:cNvPr id="9" name="Shape 7"/>
          <p:cNvSpPr/>
          <p:nvPr/>
        </p:nvSpPr>
        <p:spPr>
          <a:xfrm>
            <a:off x="548640" y="3794760"/>
            <a:ext cx="502920" cy="502920"/>
          </a:xfrm>
          <a:prstGeom prst="roundRect">
            <a:avLst>
              <a:gd name="adj" fmla="val 50909"/>
            </a:avLst>
          </a:prstGeom>
          <a:solidFill>
            <a:srgbClr val="2E8B8B"/>
          </a:solidFill>
          <a:ln/>
        </p:spPr>
      </p:sp>
      <p:sp>
        <p:nvSpPr>
          <p:cNvPr id="10" name="Text 8"/>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1234440" y="326136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team re-runs CoverageRecommendationAssessment's Evaluation Suite against its existing Test Cases</a:t>
            </a:r>
            <a:endParaRPr lang="en-US" sz="1600" dirty="0"/>
          </a:p>
        </p:txBody>
      </p:sp>
      <p:sp>
        <p:nvSpPr>
          <p:cNvPr id="12" name="Text 10"/>
          <p:cNvSpPr/>
          <p:nvPr/>
        </p:nvSpPr>
        <p:spPr>
          <a:xfrm>
            <a:off x="1234440" y="364540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Including the recommendationTier test cases built around the €5,000 High-Value Renewal threshold — and compares this run's pass rate against the Metrics recorded when the function was last validated.</a:t>
            </a:r>
            <a:endParaRPr lang="en-US" sz="1400" dirty="0"/>
          </a:p>
        </p:txBody>
      </p:sp>
      <p:sp>
        <p:nvSpPr>
          <p:cNvPr id="13" name="Shape 11"/>
          <p:cNvSpPr/>
          <p:nvPr/>
        </p:nvSpPr>
        <p:spPr>
          <a:xfrm>
            <a:off x="548640" y="5364480"/>
            <a:ext cx="502920" cy="502920"/>
          </a:xfrm>
          <a:prstGeom prst="roundRect">
            <a:avLst>
              <a:gd name="adj" fmla="val 50909"/>
            </a:avLst>
          </a:prstGeom>
          <a:solidFill>
            <a:srgbClr val="2E8B8B"/>
          </a:solidFill>
          <a:ln/>
        </p:spPr>
      </p:sp>
      <p:sp>
        <p:nvSpPr>
          <p:cNvPr id="14" name="Text 12"/>
          <p:cNvSpPr/>
          <p:nvPr/>
        </p:nvSpPr>
        <p:spPr>
          <a:xfrm>
            <a:off x="548640" y="536448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5" name="Text 13"/>
          <p:cNvSpPr/>
          <p:nvPr/>
        </p:nvSpPr>
        <p:spPr>
          <a:xfrm>
            <a:off x="1234440" y="483108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comparison shows a real shift, not noise</a:t>
            </a:r>
            <a:endParaRPr lang="en-US" sz="1600" dirty="0"/>
          </a:p>
        </p:txBody>
      </p:sp>
      <p:sp>
        <p:nvSpPr>
          <p:cNvPr id="16" name="Text 14"/>
          <p:cNvSpPr/>
          <p:nvPr/>
        </p:nvSpPr>
        <p:spPr>
          <a:xfrm>
            <a:off x="1234440" y="521512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Several Test Cases that previously evaluated recommendationTier = Low are now coming back Medium — consistent across repeated runs, which is what rules out ordinary LLM non-determinism as the explanation.</a:t>
            </a:r>
            <a:endParaRPr lang="en-US" sz="1400" dirty="0"/>
          </a:p>
        </p:txBody>
      </p:sp>
      <p:sp>
        <p:nvSpPr>
          <p:cNvPr id="17" name="Text 15"/>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Drift Monitoring in Practice: A Worked Example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Tracing a quiet shift in CoverageRecommendationAssessment (Batch 4) from first symptom to confirmed drift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3794760"/>
            <a:ext cx="502920" cy="502920"/>
          </a:xfrm>
          <a:prstGeom prst="roundRect">
            <a:avLst>
              <a:gd name="adj" fmla="val 50909"/>
            </a:avLst>
          </a:prstGeom>
          <a:solidFill>
            <a:srgbClr val="2E8B8B"/>
          </a:solidFill>
          <a:ln/>
        </p:spPr>
      </p:sp>
      <p:sp>
        <p:nvSpPr>
          <p:cNvPr id="6" name="Text 4"/>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team traces the cause and decides on a response</a:t>
            </a:r>
            <a:endParaRPr lang="en-US" sz="1600" dirty="0"/>
          </a:p>
        </p:txBody>
      </p:sp>
      <p:sp>
        <p:nvSpPr>
          <p:cNvPr id="8" name="Text 6"/>
          <p:cNvSpPr/>
          <p:nvPr/>
        </p:nvSpPr>
        <p:spPr>
          <a:xfrm>
            <a:off x="1234440" y="2075688"/>
            <a:ext cx="10332720" cy="425196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A platform-level model update is identified as the likely trigger; the team either adjusts the prompt to compensate and re-validates, or escalates to Palantir support — either way, this is now a Release Strategy decision, Topic 3's subject.</a:t>
            </a:r>
            <a:endParaRPr lang="en-US" sz="1400" dirty="0"/>
          </a:p>
        </p:txBody>
      </p:sp>
      <p:sp>
        <p:nvSpPr>
          <p:cNvPr id="9" name="Text 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2</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Cost Management</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discipline your team establishes — token volume and cost per call grow quietly with traffic</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Cost Management Is Its Own Topic</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Day 1 already flagged this: token usage and per-call cost are LLMOps practices to establish deliberately</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An LLM-powered function has a per-call cost a deterministic function does not</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Foundry Observability's confirmed metrics — success/failure counts, P95 execution duration, and execution counts — tell you how often and how long a function runs, and current Foundry Observability also surfaces token usage and prompt visibility for LLM calls, but the cost-per-call discipline on top of that is one your team builds and watches, the same way you'd watch any other cost that scales with traffic.</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Not every block in a function costs the same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Within RiskScoreRefresh (Batch 2), the deterministic riskScoreStale calculation — a plain Create variable expression over assessmentDate and isHighRiskApplication — runs at effectively negligible cost, while the function's Use LLM risk-judgment block, weighing riskScore, riskCategory, applicationSummary, and riskFactors, is the block actually consuming tokens on every single call.</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Cost Management Is Its Own Topic</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Day 1 already flagged this: token usage and per-call cost are LLMOps practices to establish deliberately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same distinction holds across every function you've built</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FraudRiskAssessment's (Batch 1) thresholdCrossed check is a deterministic Create variable block; its fraud-judgment Use LLM block is the costly one. ComplianceReadinessCheck's (Batch 3) regulatorySignOffRequired check is deterministic; its compliance-judgment Use LLM block is the costly one. Knowing which block is which is the first step in cost management, not an afterthought.</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a Cost Management Discipline Actually Looks Like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Established practice, not a single Palantir dashboard view</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Track token volume and cost per call in your own dashboard</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Mirroring a well-known pattern in production LLM deployments more broadly: production teams commonly export token usage data — available through Foundry Observability for LLM calls — to a streaming dataset and build a Workshop dashboard tracking cost per call, cost per function, and cost per batch over time, the same Analysis capability Day 1 covered applied to a cost question instead of a quality question.</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Identify the costliest functions first</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chatbot that calls a Use LLM-heavy Target Function on every single turn — the Fraud Detection Chatbot (Batch 1) calling FraudRiskAssessment on every claim it's asked about — is a natural first place to look for cost, before a function most of whose work is deterministic Object-category blocks.</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What a Cost Management Discipline Actually Looks Like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Established practice, not a single Palantir dashboard view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Weigh cost against the judgment the Use LLM block actually buys you</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fraud-judgment block inside FraudRiskAssessment exists because a deterministic threshold check alone (thresholdCrossed) cannot weigh fraudScore, claimSummary, and linkedInvestigations' findings together — the cost is the price of a genuine judgment call, not a block to eliminate reflexively. Cost management is about visibility and trade-off, not blanket reduction.</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Worked Example: Where the Cost Actually Sits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Mapping a function's blocks to their cost profile — using CoverageRecommendationAssessment (Batch 4)</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Low-cost, deterministic blocks</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Create object set and Filter blocks narrowing to thisRenewal, the Get object list element at index block extracting proposedPremium, renewalDate, and status, and the thresholdCrossed Create variable block checking proposedPremium against €5,000 — all of these run with no LLM call involved, at negligible marginal cost regardless of traffic volume.</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High-cost, judgment blocks</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Use LLM block weighing atRiskSignals, retentionRecommendation, and linkedRetentionOffer to produce recommendationTier is the one block in this function that consumes tokens on every call — and it is called once per policy assessed, so its cost scales directly with how often the Policy Recommendation Chatbot (Batch 4) is used.</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practical takeaway</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At renewal-season volume (Topic 4's subject), the Use LLM block's cost is the one worth projecting and watching — the deterministic blocks around it are effectively free by comparison, and cost management effort should follow that asymmetry.</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3</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Release Strategy</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Staged rollout for a prompt or model change — the LLMOps equivalent of blue/green deployment</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a Changed Prompt Needs a Release Strategy</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Day 1 established prompt versioning; release strategy is how a new version actually reaches users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new prompt version is a behavior change, same as a code deploy</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Day 1 covered recording and evaluating a new prompt version before it replaces the old one in production — release strategy is the next question: does the new version go to every user at once, or gradually?</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Staged rollout is the same discipline ordinary application code already uses</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Rolling out a new prompt version for the Compliance Chatbot (Batch 3) to a small slice of Batch 3's traffic before full rollout is a staged release — the same discipline a blue/green or canary deployment gives ordinary application code, applied to a prompt instead of a binary.</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a Changed Prompt Needs a Release Strategy</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Day 1 established prompt versioning; release strategy is how a new version actually reaches users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Passing Day 1's evals is necessary but not sufficient for a full rollout</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new version of the Fraud Detection Chatbot's (Batch 1) system prompt that passes its Evaluation Suite's Test Cases has cleared the bar Day 1 described — release strategy adds a second bar: does it hold up against real traffic at small scale before it reaches everyone?</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Elements of a Staged Release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shape as a classical blue/green rollout, mapped onto a prompt or model change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known-good version stays live while the new one is tested</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prior, recorded version of RiskScoreRefresh's (Batch 2) judgment prompt — Day 1's prompt-versioning discipline — keeps serving most traffic while a revised version is evaluated, the same way a blue environment keeps serving while green is validated.</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new version is exposed to a deliberately small slice first</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Routing a defined fraction of Underwriting Chatbot (Batch 2) conversations to a revised prompt version, rather than every conversation, limits the blast radius if the new version underperforms in ways the Evaluation Suite's Test Cases didn't anticipate.</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Elements of a Staged Release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shape as a classical blue/green rollout, mapped onto a prompt or model change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clear rollback path is defined before rollout starts, not improvised after</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If the EscalateForCoverageRecommendation handoff logic in a revised Customer Support Chatbot (Batch 4) prompt starts firing incorrectly for real users, reverting to the previous recorded version — the same rollback Day 1's prompt versioning made possible — should be the predefined, immediate response.</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Release Strategy in Practice: A Staged Rollout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Rolling out a revised task prompt for the Compliance Chatbot (Batch 3)</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2225040"/>
            <a:ext cx="502920" cy="502920"/>
          </a:xfrm>
          <a:prstGeom prst="roundRect">
            <a:avLst>
              <a:gd name="adj" fmla="val 50909"/>
            </a:avLst>
          </a:prstGeom>
          <a:solidFill>
            <a:srgbClr val="2E8B8B"/>
          </a:solidFill>
          <a:ln/>
        </p:spPr>
      </p:sp>
      <p:sp>
        <p:nvSpPr>
          <p:cNvPr id="6" name="Text 4"/>
          <p:cNvSpPr/>
          <p:nvPr/>
        </p:nvSpPr>
        <p:spPr>
          <a:xfrm>
            <a:off x="548640" y="222504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 revised system prompt is drafted to tighten when the chatbot escalates to SubmitComplianceReview</a:t>
            </a:r>
            <a:endParaRPr lang="en-US" sz="1600" dirty="0"/>
          </a:p>
        </p:txBody>
      </p:sp>
      <p:sp>
        <p:nvSpPr>
          <p:cNvPr id="8" name="Text 6"/>
          <p:cNvSpPr/>
          <p:nvPr/>
        </p:nvSpPr>
        <p:spPr>
          <a:xfrm>
            <a:off x="1234440" y="207568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Following Day 1's versioning discipline, the change is recorded as a new, labeled version rather than overwritten silently over the prior one.</a:t>
            </a:r>
            <a:endParaRPr lang="en-US" sz="1400" dirty="0"/>
          </a:p>
        </p:txBody>
      </p:sp>
      <p:sp>
        <p:nvSpPr>
          <p:cNvPr id="9" name="Shape 7"/>
          <p:cNvSpPr/>
          <p:nvPr/>
        </p:nvSpPr>
        <p:spPr>
          <a:xfrm>
            <a:off x="548640" y="3794760"/>
            <a:ext cx="502920" cy="502920"/>
          </a:xfrm>
          <a:prstGeom prst="roundRect">
            <a:avLst>
              <a:gd name="adj" fmla="val 50909"/>
            </a:avLst>
          </a:prstGeom>
          <a:solidFill>
            <a:srgbClr val="2E8B8B"/>
          </a:solidFill>
          <a:ln/>
        </p:spPr>
      </p:sp>
      <p:sp>
        <p:nvSpPr>
          <p:cNvPr id="10" name="Text 8"/>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1234440" y="326136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new version is validated against ComplianceReadinessCheck's Evaluation Suite before any user sees it</a:t>
            </a:r>
            <a:endParaRPr lang="en-US" sz="1600" dirty="0"/>
          </a:p>
        </p:txBody>
      </p:sp>
      <p:sp>
        <p:nvSpPr>
          <p:cNvPr id="12" name="Text 10"/>
          <p:cNvSpPr/>
          <p:nvPr/>
        </p:nvSpPr>
        <p:spPr>
          <a:xfrm>
            <a:off x="1234440" y="364540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The same Test Cases used to validate the prior version, plus new ones covering the tightened escalation rule, run and their Metrics are compared against the prior version's.</a:t>
            </a:r>
            <a:endParaRPr lang="en-US" sz="1400" dirty="0"/>
          </a:p>
        </p:txBody>
      </p:sp>
      <p:sp>
        <p:nvSpPr>
          <p:cNvPr id="13" name="Shape 11"/>
          <p:cNvSpPr/>
          <p:nvPr/>
        </p:nvSpPr>
        <p:spPr>
          <a:xfrm>
            <a:off x="548640" y="5364480"/>
            <a:ext cx="502920" cy="502920"/>
          </a:xfrm>
          <a:prstGeom prst="roundRect">
            <a:avLst>
              <a:gd name="adj" fmla="val 50909"/>
            </a:avLst>
          </a:prstGeom>
          <a:solidFill>
            <a:srgbClr val="2E8B8B"/>
          </a:solidFill>
          <a:ln/>
        </p:spPr>
      </p:sp>
      <p:sp>
        <p:nvSpPr>
          <p:cNvPr id="14" name="Text 12"/>
          <p:cNvSpPr/>
          <p:nvPr/>
        </p:nvSpPr>
        <p:spPr>
          <a:xfrm>
            <a:off x="548640" y="536448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5" name="Text 13"/>
          <p:cNvSpPr/>
          <p:nvPr/>
        </p:nvSpPr>
        <p:spPr>
          <a:xfrm>
            <a:off x="1234440" y="483108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new version is released to a small slice of Batch 3's traffic first</a:t>
            </a:r>
            <a:endParaRPr lang="en-US" sz="1600" dirty="0"/>
          </a:p>
        </p:txBody>
      </p:sp>
      <p:sp>
        <p:nvSpPr>
          <p:cNvPr id="16" name="Text 14"/>
          <p:cNvSpPr/>
          <p:nvPr/>
        </p:nvSpPr>
        <p:spPr>
          <a:xfrm>
            <a:off x="1234440" y="521512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A defined fraction of conversations route to the revised prompt while the rest continue on the known-good version — exactly the staged exposure a blue/green deployment gives ordinary code.</a:t>
            </a:r>
            <a:endParaRPr lang="en-US" sz="1400" dirty="0"/>
          </a:p>
        </p:txBody>
      </p:sp>
      <p:sp>
        <p:nvSpPr>
          <p:cNvPr id="17" name="Text 15"/>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Release Strategy in Practice: A Staged Rollout</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Rolling out a revised task prompt for the Compliance Chatbot (Batch 3)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3794760"/>
            <a:ext cx="502920" cy="502920"/>
          </a:xfrm>
          <a:prstGeom prst="roundRect">
            <a:avLst>
              <a:gd name="adj" fmla="val 50909"/>
            </a:avLst>
          </a:prstGeom>
          <a:solidFill>
            <a:srgbClr val="2E8B8B"/>
          </a:solidFill>
          <a:ln/>
        </p:spPr>
      </p:sp>
      <p:sp>
        <p:nvSpPr>
          <p:cNvPr id="6" name="Text 4"/>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Observability and evals both confirm the new version before full rollout</a:t>
            </a:r>
            <a:endParaRPr lang="en-US" sz="1600" dirty="0"/>
          </a:p>
        </p:txBody>
      </p:sp>
      <p:sp>
        <p:nvSpPr>
          <p:cNvPr id="8" name="Text 6"/>
          <p:cNvSpPr/>
          <p:nvPr/>
        </p:nvSpPr>
        <p:spPr>
          <a:xfrm>
            <a:off x="1234440" y="2075688"/>
            <a:ext cx="10332720" cy="425196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Foundry Observability's confirmed metrics (failure rate, P95 execution duration) stay stable for the small slice, and a second evals run shows no regression — only then does the new version become the default for all of Batch 3.</a:t>
            </a:r>
            <a:endParaRPr lang="en-US" sz="1400" dirty="0"/>
          </a:p>
        </p:txBody>
      </p:sp>
      <p:sp>
        <p:nvSpPr>
          <p:cNvPr id="9" name="Text 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4</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Capacity Planning</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Anticipating a traffic or load spike before it arrives, not reacting to it after</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LLM-Powered Systems Need Capacity Planning</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production-AI discipline, not a single named Palantir feature — built on what you already know about your own systems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LLM-powered calls are slower and costlier per request than a classical lookup</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surge in conversations with the Claims Chatbot (Batch 1) means a surge in calls to its FraudRiskAssessment tool's Use LLM block — Topic 2's cost discipline and this topic's load discipline are directly connected: more traffic means more cost and more load at the same time.</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Foundry Observability's confirmed metrics are what you plan against</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P95 execution duration and execution counts for FraudRiskAssessment, tracked over the last 30 days, are the concrete baseline a capacity plan starts from — you cannot plan for a spike you have no baseline to compare it against.</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Why LLM-Powered Systems Need Capacity Planning</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 production-AI discipline, not a single named Palantir feature — built on what you already know about your own systems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Production teams commonly plan for known seasonal or event-driven surges</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This is a general, unnamed industry practice, not a Palantir-specific feature: production teams commonly model expected peak load ahead of a known surge window and validate that their systems hold up at that projected volume before the surge arrives, rather than discovering capacity limits during it.</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Two Concrete Surge Scenarios From This Program</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Grounding the discipline in traffic patterns your own batches would actually face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claims surge after a catastrophic weather event (Batch 1)</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regional storm or flood event would drive a sudden multiple of normal call volume into the Claims Chatbot and, downstream, into FraudRiskAssessment's Use LLM block — exactly the kind of event-driven spike capacity planning exists to anticipate, including whether the chatbot's response time (P95 execution duration) stays acceptable under that load.</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renewal-season surge (Batch 4)</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Policy renewals cluster around predictable calendar windows — a surge in Customer Support Chatbot conversations and CoverageRecommendationAssessment calls during peak renewal season is foreseeable well in advance, unlike the Batch 1 weather scenario, which makes it a planning exercise rather than an incident response.</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Two Concrete Surge Scenarios From This Program</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Grounding the discipline in traffic patterns your own batches would actually face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What both scenarios share</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In both cases, the deterministic blocks (thresholdCrossed, riskScoreStale-style checks) scale cheaply with volume, while the Use LLM judgment block is where load and cost both concentrate — the same asymmetry Topic 2 identified, now viewed through a capacity lens instead of a cost lens.</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Building a Capacity Plan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Turning Foundry Observability's confirmed baseline into a forward-looking plan</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Establish the current baseline first</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Pull FraudRiskAssessment's (Batch 1) and the Claims Chatbot's execution counts and P95 execution duration from Foundry Observability's 30-day window as the starting point — you cannot size for 5x normal volume without knowing what normal volume and normal latency are today.</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Project the expected surge multiple</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For Batch 4's renewal-season surge, estimate the expected multiple of normal renewal volume from known historical renewal-cycle patterns, then project what that multiple means for CoverageRecommendationAssessment call volume and the Policy Recommendation Chatbot's expected response time at that load.</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Building a Capacity Plan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Turning Foundry Observability's confirmed baseline into a forward-looking plan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Validate before the surge, not during it</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Where possible, test the projected load against the actual function ahead of the surge window — a renewal-season or post-catastrophic-event capacity test run in advance is far cheaper than discovering a bottleneck live, when adjusters or policyholders are already waiting.</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5</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AI Governance &amp; Responsible AI</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Applying Foundry's confirmed governance primitives to AI-specific risks</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AI Governance Builds on Foundry Governance You Already Know</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Not a new governance system — Week 1's Roles, Markings, and Security Policies, applied to AI-specific risk</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Roles — who can do what with an AI system</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same Role-based access control from Week 1 that governs who can edit an Ontology object type governs who can edit a chatbot's system prompt, publish a new version of FraudRiskAssessment, or change an Action Type's confirmation setting — AI governance starts with the same question Week 1 asked about any Foundry asset: who has the Role to change this?</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Markings — what sensitive data an AI system can touch</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Week 1's Markings (ABAC-style) already govern which users and services can see which data — applied to AI, a Marking on sensitive claimant or policyholder data determines whether a chatbot's Object Query tool, such as the Claims Chatbot's query access to Claim and Insurance Policy, can actually see Marked fields, not just whether a person could.</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AI Governance Builds on Foundry Governance You Already Know</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Not a new governance system — Week 1's Roles, Markings, and Security Policies, applied to AI-specific risk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Security Policies — the AI-specific risk they need to cover</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chatbot's Action tool is a write path into the Ontology, same as any Action a person submits by hand. The confirmation-required setting on EscalateForCoverageRecommendation (Batch 4) — a person must approve it before it writes — is a governance control a Security Policy should mandate for any AI-triggered write, not something to rely on the chatbot's builder having remembered to set.</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An AI-Specific Risk: Unchecked Write Access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Why a chatbot's Action tool deserves more governance scrutiny than a read-only tool</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The risk is specific to AI, not generic to Actions</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A person submitting ApproveClaim (Batch 1) by hand reads the form before clicking submit. A chatbot proposing the same Action is acting on an LLM's judgment — the confirmation step is what keeps a person in that loop, and removing it (or never checking whether it's still in place) hands an LLM's judgment a direct, unreviewed write path.</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Governance has to check this deliberately, not assume it</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Every governed write tool across this program's four batches — ApproveClaim, RequestRiskReview, SubmitComplianceReview, EscalateForCoverageRecommendation — was built with confirmation required. An AI governance review's job is to periodically confirm that setting is still in place, not to assume a setting configured months ago in Week 3 or Week 5 is still correct today.</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An AI-Specific Risk: Unchecked Write Access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Why a chatbot's Action tool deserves more governance scrutiny than a read-only tool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Responsible AI means the chatbot's own instructions reinforce the same discipline</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Compliance Chatbot's (Batch 3) system prompt instruction to never state a compliance read without having called ComplianceReadinessCheck first is a responsible-AI guardrail written into the prompt itself — governance at the platform level (Roles, Markings, confirmation) and governance at the prompt level work together, not as substitutes for each other.</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Foundry Governance Primitives, Applied to AI</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The same four confirmed Week 1 mechanisms, read through an AI-specific lens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Primitive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Week 1 Purpose</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AI-Specific Application</a:t>
                      </a:r>
                      <a:endParaRPr lang="en-US" sz="140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Roles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Who can edit an Ontology object type or dataset</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Who can edit a chatbot's system prompt, publish a function, or change an Action's confirmation setting</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Markings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Which users/services can see Marked sensitive data</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Whether a chatbot's Object Query tool can surface Marked fields in its responses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Security Policies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Platform-wide rules governing access and change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Mandating confirmation-required on every AI-triggered Action, not leaving it to each builder's discretion</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0">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Data Lineage</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Tracing a dataset's origin and transformations</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Tracing which inputs fed a chatbot's recommendation (Topic 6)</a:t>
                      </a:r>
                      <a:endParaRPr lang="en-US" sz="1350" dirty="0">
                        <a:latin typeface="Calibri" charset="0"/>
                        <a:ea typeface="Calibri" charset="0"/>
                        <a:cs typeface="Calibri"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7"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822960" y="2331720"/>
            <a:ext cx="5486400" cy="457200"/>
          </a:xfrm>
          <a:prstGeom prst="rect">
            <a:avLst/>
          </a:prstGeom>
          <a:noFill/>
          <a:ln/>
        </p:spPr>
        <p:txBody>
          <a:bodyPr wrap="square" rtlCol="0" anchor="ctr"/>
          <a:lstStyle/>
          <a:p>
            <a:pPr marL="0" indent="0">
              <a:buNone/>
            </a:pPr>
            <a:r>
              <a:rPr lang="en-US" sz="1500" b="1" kern="0" spc="300" dirty="0">
                <a:solidFill>
                  <a:srgbClr val="B08D57"/>
                </a:solidFill>
                <a:latin typeface="Calibri" pitchFamily="34" charset="0"/>
                <a:ea typeface="Calibri" pitchFamily="34" charset="-122"/>
                <a:cs typeface="Calibri" pitchFamily="34" charset="-120"/>
              </a:rPr>
              <a:t>TOPIC 6</a:t>
            </a:r>
            <a:endParaRPr lang="en-US" sz="1500" dirty="0"/>
          </a:p>
        </p:txBody>
      </p:sp>
      <p:sp>
        <p:nvSpPr>
          <p:cNvPr id="3" name="Text 1"/>
          <p:cNvSpPr/>
          <p:nvPr/>
        </p:nvSpPr>
        <p:spPr>
          <a:xfrm>
            <a:off x="822960" y="2788920"/>
            <a:ext cx="10515600" cy="10972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Audit &amp; Compliance</a:t>
            </a:r>
            <a:endParaRPr lang="en-US" sz="3400" dirty="0"/>
          </a:p>
        </p:txBody>
      </p:sp>
      <p:sp>
        <p:nvSpPr>
          <p:cNvPr id="4" name="Text 2"/>
          <p:cNvSpPr/>
          <p:nvPr/>
        </p:nvSpPr>
        <p:spPr>
          <a:xfrm>
            <a:off x="822960" y="3703320"/>
            <a:ext cx="9875520" cy="64008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Using Foundry's Data Lineage and Audit Trails to answer exactly why a chatbot acted</a:t>
            </a:r>
            <a:endParaRPr lang="en-US" sz="1600" dirty="0"/>
          </a:p>
        </p:txBody>
      </p:sp>
      <p:sp>
        <p:nvSpPr>
          <p:cNvPr id="5" name="Text 3"/>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Audit and Compliance Build on Foundry Primitives You Already Know</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Week 1's Data Lineage and Audit Trails, applied to tracing an AI Chatbot's own actions</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2135124"/>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Data Lineage traces what fed into a decision</a:t>
            </a:r>
            <a:endParaRPr lang="en-US" sz="1800" dirty="0"/>
          </a:p>
        </p:txBody>
      </p:sp>
      <p:sp>
        <p:nvSpPr>
          <p:cNvPr id="7" name="Text 5"/>
          <p:cNvSpPr/>
          <p:nvPr/>
        </p:nvSpPr>
        <p:spPr>
          <a:xfrm>
            <a:off x="777240" y="2093976"/>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same Data Lineage from Week 1 that traces a dataset's origin and transformations can trace which Claim record, which linkedInvestigations results, and which ClaimsCopilot output fed into a specific FraudRiskAssessment (Batch 1) run — answering “what did this recommendation see?”, not just “what did it output?”.</a:t>
            </a:r>
            <a:endParaRPr lang="en-US" sz="1600" dirty="0"/>
          </a:p>
        </p:txBody>
      </p:sp>
      <p:sp>
        <p:nvSpPr>
          <p:cNvPr id="8" name="Shape 6"/>
          <p:cNvSpPr/>
          <p:nvPr/>
        </p:nvSpPr>
        <p:spPr>
          <a:xfrm>
            <a:off x="548640" y="4101084"/>
            <a:ext cx="54864" cy="2135124"/>
          </a:xfrm>
          <a:prstGeom prst="rect">
            <a:avLst/>
          </a:prstGeom>
          <a:solidFill>
            <a:srgbClr val="2E8B8B"/>
          </a:solidFill>
          <a:ln/>
        </p:spPr>
      </p:sp>
      <p:sp>
        <p:nvSpPr>
          <p:cNvPr id="9" name="Text 7"/>
          <p:cNvSpPr/>
          <p:nvPr/>
        </p:nvSpPr>
        <p:spPr>
          <a:xfrm>
            <a:off x="777240" y="4055364"/>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Audit Trails record who did what, and when</a:t>
            </a:r>
            <a:endParaRPr lang="en-US" sz="1800" dirty="0"/>
          </a:p>
        </p:txBody>
      </p:sp>
      <p:sp>
        <p:nvSpPr>
          <p:cNvPr id="10" name="Text 8"/>
          <p:cNvSpPr/>
          <p:nvPr/>
        </p:nvSpPr>
        <p:spPr>
          <a:xfrm>
            <a:off x="777240" y="4457700"/>
            <a:ext cx="10789920" cy="1860804"/>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Week 1's Audit Trails, which already record who changed an Ontology object or published a function, extend naturally to recording when the Fraud Detection Chatbot proposed OpenInvestigation, when a person confirmed it, and when the Investigation object was actually created — a complete, timestamped record of an AI-initiated write.</a:t>
            </a:r>
            <a:endParaRPr lang="en-US" sz="1600" dirty="0"/>
          </a:p>
        </p:txBody>
      </p:sp>
      <p:sp>
        <p:nvSpPr>
          <p:cNvPr id="11" name="Text 9"/>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2" name="Text 10"/>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Audit and Compliance Build on Foundry Primitives You Already Know</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Week 1's Data Lineage and Audit Trails, applied to tracing an AI Chatbot's own actions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4498848"/>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Together, they answer the regulator's actual question</a:t>
            </a:r>
            <a:endParaRPr lang="en-US" sz="1800" dirty="0"/>
          </a:p>
        </p:txBody>
      </p:sp>
      <p:sp>
        <p:nvSpPr>
          <p:cNvPr id="7" name="Text 5"/>
          <p:cNvSpPr/>
          <p:nvPr/>
        </p:nvSpPr>
        <p:spPr>
          <a:xfrm>
            <a:off x="777240" y="2093976"/>
            <a:ext cx="10789920" cy="4224528"/>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“Why did this chatbot take this action, on this record, at this time, and who allowed it?” is answered by combining Data Lineage (what fed the decision) with Audit Trails (who approved the resulting write) — neither alone tells the complete story.</a:t>
            </a:r>
            <a:endParaRPr lang="en-US" sz="1600" dirty="0"/>
          </a:p>
        </p:txBody>
      </p:sp>
      <p:sp>
        <p:nvSpPr>
          <p:cNvPr id="8" name="Text 6"/>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Audit &amp; Compliance in Practice: Tracing One Chatbot Action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Answering “why did the Compliance Chatbot (Batch 3) recommend ApproveReferral on this Fraud Case?”</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2225040"/>
            <a:ext cx="502920" cy="502920"/>
          </a:xfrm>
          <a:prstGeom prst="roundRect">
            <a:avLst>
              <a:gd name="adj" fmla="val 50909"/>
            </a:avLst>
          </a:prstGeom>
          <a:solidFill>
            <a:srgbClr val="2E8B8B"/>
          </a:solidFill>
          <a:ln/>
        </p:spPr>
      </p:sp>
      <p:sp>
        <p:nvSpPr>
          <p:cNvPr id="6" name="Text 4"/>
          <p:cNvSpPr/>
          <p:nvPr/>
        </p:nvSpPr>
        <p:spPr>
          <a:xfrm>
            <a:off x="548640" y="222504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Start from the Audit Trail entry for the SubmitComplianceReview submission</a:t>
            </a:r>
            <a:endParaRPr lang="en-US" sz="1600" dirty="0"/>
          </a:p>
        </p:txBody>
      </p:sp>
      <p:sp>
        <p:nvSpPr>
          <p:cNvPr id="8" name="Text 6"/>
          <p:cNvSpPr/>
          <p:nvPr/>
        </p:nvSpPr>
        <p:spPr>
          <a:xfrm>
            <a:off x="1234440" y="207568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It records who confirmed the Action, and when — the person-in-the-loop the confirmation-required setting (Topic 5) was there to guarantee.</a:t>
            </a:r>
            <a:endParaRPr lang="en-US" sz="1400" dirty="0"/>
          </a:p>
        </p:txBody>
      </p:sp>
      <p:sp>
        <p:nvSpPr>
          <p:cNvPr id="9" name="Shape 7"/>
          <p:cNvSpPr/>
          <p:nvPr/>
        </p:nvSpPr>
        <p:spPr>
          <a:xfrm>
            <a:off x="548640" y="3794760"/>
            <a:ext cx="502920" cy="502920"/>
          </a:xfrm>
          <a:prstGeom prst="roundRect">
            <a:avLst>
              <a:gd name="adj" fmla="val 50909"/>
            </a:avLst>
          </a:prstGeom>
          <a:solidFill>
            <a:srgbClr val="2E8B8B"/>
          </a:solidFill>
          <a:ln/>
        </p:spPr>
      </p:sp>
      <p:sp>
        <p:nvSpPr>
          <p:cNvPr id="10" name="Text 8"/>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p:nvPr/>
        </p:nvSpPr>
        <p:spPr>
          <a:xfrm>
            <a:off x="1234440" y="326136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Trace back through Data Lineage to the ComplianceReadinessCheck run that produced the recommendation</a:t>
            </a:r>
            <a:endParaRPr lang="en-US" sz="1600" dirty="0"/>
          </a:p>
        </p:txBody>
      </p:sp>
      <p:sp>
        <p:nvSpPr>
          <p:cNvPr id="12" name="Text 10"/>
          <p:cNvSpPr/>
          <p:nvPr/>
        </p:nvSpPr>
        <p:spPr>
          <a:xfrm>
            <a:off x="1234440" y="364540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Identifying exactly which run — and therefore which prompt version, per Day 1's versioning discipline — generated the recommendedComplianceAction = ApproveReferral that the chatbot proposed.</a:t>
            </a:r>
            <a:endParaRPr lang="en-US" sz="1400" dirty="0"/>
          </a:p>
        </p:txBody>
      </p:sp>
      <p:sp>
        <p:nvSpPr>
          <p:cNvPr id="13" name="Shape 11"/>
          <p:cNvSpPr/>
          <p:nvPr/>
        </p:nvSpPr>
        <p:spPr>
          <a:xfrm>
            <a:off x="548640" y="5364480"/>
            <a:ext cx="502920" cy="502920"/>
          </a:xfrm>
          <a:prstGeom prst="roundRect">
            <a:avLst>
              <a:gd name="adj" fmla="val 50909"/>
            </a:avLst>
          </a:prstGeom>
          <a:solidFill>
            <a:srgbClr val="2E8B8B"/>
          </a:solidFill>
          <a:ln/>
        </p:spPr>
      </p:sp>
      <p:sp>
        <p:nvSpPr>
          <p:cNvPr id="14" name="Text 12"/>
          <p:cNvSpPr/>
          <p:nvPr/>
        </p:nvSpPr>
        <p:spPr>
          <a:xfrm>
            <a:off x="548640" y="536448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5" name="Text 13"/>
          <p:cNvSpPr/>
          <p:nvPr/>
        </p:nvSpPr>
        <p:spPr>
          <a:xfrm>
            <a:off x="1234440" y="483108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Trace further back to the inputs that run actually used</a:t>
            </a:r>
            <a:endParaRPr lang="en-US" sz="1600" dirty="0"/>
          </a:p>
        </p:txBody>
      </p:sp>
      <p:sp>
        <p:nvSpPr>
          <p:cNvPr id="16" name="Text 14"/>
          <p:cNvSpPr/>
          <p:nvPr/>
        </p:nvSpPr>
        <p:spPr>
          <a:xfrm>
            <a:off x="1234440" y="5215128"/>
            <a:ext cx="10332720" cy="111252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The specific linkedEvidence and linkedReferralSource object sets, and the caseSummary and missingEvidence output from FraudTriageCopilot, that fed the Use LLM compliance-judgment block on that specific run.</a:t>
            </a:r>
            <a:endParaRPr lang="en-US" sz="1400" dirty="0"/>
          </a:p>
        </p:txBody>
      </p:sp>
      <p:sp>
        <p:nvSpPr>
          <p:cNvPr id="17" name="Text 15"/>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Audit &amp; Compliance in Practice: Tracing One Chatbot Action</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Answering “why did the Compliance Chatbot (Batch 3) recommend ApproveReferral on this Fraud Case?”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3794760"/>
            <a:ext cx="502920" cy="502920"/>
          </a:xfrm>
          <a:prstGeom prst="roundRect">
            <a:avLst>
              <a:gd name="adj" fmla="val 50909"/>
            </a:avLst>
          </a:prstGeom>
          <a:solidFill>
            <a:srgbClr val="2E8B8B"/>
          </a:solidFill>
          <a:ln/>
        </p:spPr>
      </p:sp>
      <p:sp>
        <p:nvSpPr>
          <p:cNvPr id="6" name="Text 4"/>
          <p:cNvSpPr/>
          <p:nvPr/>
        </p:nvSpPr>
        <p:spPr>
          <a:xfrm>
            <a:off x="548640" y="3794760"/>
            <a:ext cx="502920" cy="50292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7" name="Text 5"/>
          <p:cNvSpPr/>
          <p:nvPr/>
        </p:nvSpPr>
        <p:spPr>
          <a:xfrm>
            <a:off x="1234440" y="1691640"/>
            <a:ext cx="10332720" cy="38404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The result is a complete, defensible answer</a:t>
            </a:r>
            <a:endParaRPr lang="en-US" sz="1600" dirty="0"/>
          </a:p>
        </p:txBody>
      </p:sp>
      <p:sp>
        <p:nvSpPr>
          <p:cNvPr id="8" name="Text 6"/>
          <p:cNvSpPr/>
          <p:nvPr/>
        </p:nvSpPr>
        <p:spPr>
          <a:xfrm>
            <a:off x="1234440" y="2075688"/>
            <a:ext cx="10332720" cy="4251960"/>
          </a:xfrm>
          <a:prstGeom prst="rect">
            <a:avLst/>
          </a:prstGeom>
          <a:noFill/>
          <a:ln/>
        </p:spPr>
        <p:txBody>
          <a:bodyPr wrap="square" rtlCol="0" anchor="ctr"/>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Not “the chatbot decided this,” but a traceable chain from the Fraud Case's actual evidence, through a specific function run, to a specific person's confirmation — exactly what an audit or regulatory inquiry needs, assembled from Foundry primitives already in place, not reconstructed from memory.</a:t>
            </a:r>
            <a:endParaRPr lang="en-US" sz="1400" dirty="0"/>
          </a:p>
        </p:txBody>
      </p:sp>
      <p:sp>
        <p:nvSpPr>
          <p:cNvPr id="9" name="Text 7"/>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Tying Audit &amp; Compliance Back to Responsible AI</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Why this closes the loop on everything Day 1 and today have covered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Evaluation and observability (Day 1) establish that a function behaves correctly</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Data Lineage and Audit Trails (today) establish that you can prove, after the fact, exactly why it acted the way it did on one specific occasion — a different and equally necessary guarantee.</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Drift monitoring, cost management, release strategy, and capacity planning (today) keep the system healthy in operation</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Governance and audit (today) keep it accountable — together, all six of today's topics plus Day 1's four complete the production-readiness bar this week set out to establish.</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This is the Week 6 deliverable's foundation</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The Production Readiness Package you build Wednesday — an evaluation suite, an observability dashboard, and a release plan — rests on exactly this combination: Day 1's evaluation and observability, and today's operational and governance disciplines, applied to one of your own functions or chatbots.</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Week 6 Deliverable Recap: The Production Readiness Package</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What you will assemble Wednesday, and what today adds to it</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An evaluation suite</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Built on Day 1's AIP Evals concepts — Target Function, Test Cases, Evaluation Function, Metrics — re-run periodically per today's drift-monitoring discipline, not just once at launch.</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An observability dashboard</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Built on Day 1's Foundry Observability metrics, extended with today's cost-management view (token usage and cost per call) and a capacity-planning baseline (execution counts and P95 duration against a projected surge).</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A release plan</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Documenting today's staged-rollout approach for the next prompt or model change, the governance checks (Roles, Markings, confirmation settings) it must pass, and the Data Lineage and Audit Trail evidence it will leave behind.</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Looking Ahead: Day 3 and the Rest of Week 6</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Today built the operational and governance vocabulary; Day 3 puts it to work</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Shape 3"/>
          <p:cNvSpPr/>
          <p:nvPr/>
        </p:nvSpPr>
        <p:spPr>
          <a:xfrm>
            <a:off x="548640" y="1737360"/>
            <a:ext cx="54864" cy="1347216"/>
          </a:xfrm>
          <a:prstGeom prst="rect">
            <a:avLst/>
          </a:prstGeom>
          <a:solidFill>
            <a:srgbClr val="2E8B8B"/>
          </a:solidFill>
          <a:ln/>
        </p:spPr>
      </p:sp>
      <p:sp>
        <p:nvSpPr>
          <p:cNvPr id="6" name="Text 4"/>
          <p:cNvSpPr/>
          <p:nvPr/>
        </p:nvSpPr>
        <p:spPr>
          <a:xfrm>
            <a:off x="777240" y="1691640"/>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Day 3 — Self-paced build</a:t>
            </a:r>
            <a:endParaRPr lang="en-US" sz="1800" dirty="0"/>
          </a:p>
        </p:txBody>
      </p:sp>
      <p:sp>
        <p:nvSpPr>
          <p:cNvPr id="7" name="Text 5"/>
          <p:cNvSpPr/>
          <p:nvPr/>
        </p:nvSpPr>
        <p:spPr>
          <a:xfrm>
            <a:off x="777240" y="2093976"/>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You will build the evaluation suite, observability dashboard, and release plan described above for one of your program's existing functions or chatbots — today's six topics, applied hands-on, alongside Day 1's four.</a:t>
            </a:r>
            <a:endParaRPr lang="en-US" sz="1600" dirty="0"/>
          </a:p>
        </p:txBody>
      </p:sp>
      <p:sp>
        <p:nvSpPr>
          <p:cNvPr id="8" name="Shape 6"/>
          <p:cNvSpPr/>
          <p:nvPr/>
        </p:nvSpPr>
        <p:spPr>
          <a:xfrm>
            <a:off x="548640" y="3313176"/>
            <a:ext cx="54864" cy="1347216"/>
          </a:xfrm>
          <a:prstGeom prst="rect">
            <a:avLst/>
          </a:prstGeom>
          <a:solidFill>
            <a:srgbClr val="2E8B8B"/>
          </a:solidFill>
          <a:ln/>
        </p:spPr>
      </p:sp>
      <p:sp>
        <p:nvSpPr>
          <p:cNvPr id="9" name="Text 7"/>
          <p:cNvSpPr/>
          <p:nvPr/>
        </p:nvSpPr>
        <p:spPr>
          <a:xfrm>
            <a:off x="777240" y="3267456"/>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Day 4 and 5 — Batch practicals and review</a:t>
            </a:r>
            <a:endParaRPr lang="en-US" sz="1800" dirty="0"/>
          </a:p>
        </p:txBody>
      </p:sp>
      <p:sp>
        <p:nvSpPr>
          <p:cNvPr id="10" name="Text 8"/>
          <p:cNvSpPr/>
          <p:nvPr/>
        </p:nvSpPr>
        <p:spPr>
          <a:xfrm>
            <a:off x="777240" y="3669792"/>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Working sessions and review of the Production Readiness Package each batch produces, closing out Week 6 and this program's production-readiness arc.</a:t>
            </a:r>
            <a:endParaRPr lang="en-US" sz="1600" dirty="0"/>
          </a:p>
        </p:txBody>
      </p:sp>
      <p:sp>
        <p:nvSpPr>
          <p:cNvPr id="11" name="Shape 9"/>
          <p:cNvSpPr/>
          <p:nvPr/>
        </p:nvSpPr>
        <p:spPr>
          <a:xfrm>
            <a:off x="548640" y="4888992"/>
            <a:ext cx="54864" cy="1347216"/>
          </a:xfrm>
          <a:prstGeom prst="rect">
            <a:avLst/>
          </a:prstGeom>
          <a:solidFill>
            <a:srgbClr val="2E8B8B"/>
          </a:solidFill>
          <a:ln/>
        </p:spPr>
      </p:sp>
      <p:sp>
        <p:nvSpPr>
          <p:cNvPr id="12" name="Text 10"/>
          <p:cNvSpPr/>
          <p:nvPr/>
        </p:nvSpPr>
        <p:spPr>
          <a:xfrm>
            <a:off x="777240" y="4843272"/>
            <a:ext cx="10789920" cy="402336"/>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Carry today's six topics into that build deliberately</a:t>
            </a:r>
            <a:endParaRPr lang="en-US" sz="1800" dirty="0"/>
          </a:p>
        </p:txBody>
      </p:sp>
      <p:sp>
        <p:nvSpPr>
          <p:cNvPr id="13" name="Text 11"/>
          <p:cNvSpPr/>
          <p:nvPr/>
        </p:nvSpPr>
        <p:spPr>
          <a:xfrm>
            <a:off x="777240" y="5245608"/>
            <a:ext cx="10789920" cy="1072896"/>
          </a:xfrm>
          <a:prstGeom prst="rect">
            <a:avLst/>
          </a:prstGeom>
          <a:noFill/>
          <a:ln/>
        </p:spPr>
        <p:txBody>
          <a:bodyPr wrap="square" rtlCol="0" anchor="ctr"/>
          <a:lstStyle/>
          <a:p>
            <a:pPr marL="0" indent="0">
              <a:lnSpc>
                <a:spcPct val="120000"/>
              </a:lnSpc>
              <a:buNone/>
            </a:pPr>
            <a:r>
              <a:rPr lang="en-US" sz="1600" dirty="0">
                <a:solidFill>
                  <a:srgbClr val="222222"/>
                </a:solidFill>
                <a:latin typeface="Calibri" pitchFamily="34" charset="0"/>
                <a:ea typeface="Calibri" pitchFamily="34" charset="-122"/>
                <a:cs typeface="Calibri" pitchFamily="34" charset="-120"/>
              </a:rPr>
              <a:t>Drift monitoring, cost management, release strategy, capacity planning, AI governance, and audit and compliance are not abstractions to recall — they are checklist items your Day 3 package should visibly address, each tied to the same kind of concrete example used throughout today.</a:t>
            </a:r>
            <a:endParaRPr lang="en-US" sz="16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Common Pitfalls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Patterns worth avoiding before Wednesday's self-paced build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Assuming a function that passed Day 1's evals last month is still performing the same way today</a:t>
            </a:r>
            <a:endParaRPr lang="en-US" sz="1600" dirty="0"/>
          </a:p>
        </p:txBody>
      </p:sp>
      <p:sp>
        <p:nvSpPr>
          <p:cNvPr id="7" name="Text 5"/>
          <p:cNvSpPr/>
          <p:nvPr/>
        </p:nvSpPr>
        <p:spPr>
          <a:xfrm>
            <a:off x="1051560" y="2194560"/>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A platform-level model update can shift FraudRiskAssessment's (Batch 1) judgment on regulatorySignOffRequired-adjacent reasoning with zero code or prompt change flagged — that is drift, and it is why evaluation and monitoring are continuous, not a one-time gate.</a:t>
            </a:r>
            <a:endParaRPr lang="en-US" sz="1400" dirty="0"/>
          </a:p>
        </p:txBody>
      </p:sp>
      <p:sp>
        <p:nvSpPr>
          <p:cNvPr id="8" name="Text 6"/>
          <p:cNvSpPr/>
          <p:nvPr/>
        </p:nvSpPr>
        <p:spPr>
          <a:xfrm>
            <a:off x="594360" y="3297936"/>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Treating every Use LLM block as costing the same as a deterministic block</a:t>
            </a:r>
            <a:endParaRPr lang="en-US" sz="1600" dirty="0"/>
          </a:p>
        </p:txBody>
      </p:sp>
      <p:sp>
        <p:nvSpPr>
          <p:cNvPr id="10" name="Text 8"/>
          <p:cNvSpPr/>
          <p:nvPr/>
        </p:nvSpPr>
        <p:spPr>
          <a:xfrm>
            <a:off x="1051560" y="3755136"/>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RiskScoreRefresh's (Batch 2) Use LLM risk-judgment block carries a real per-call token cost that its deterministic riskScoreStale calculation does not — budgeting them identically hides where cost actually grows with traffic.</a:t>
            </a:r>
            <a:endParaRPr lang="en-US" sz="1400" dirty="0"/>
          </a:p>
        </p:txBody>
      </p:sp>
      <p:sp>
        <p:nvSpPr>
          <p:cNvPr id="11" name="Text 9"/>
          <p:cNvSpPr/>
          <p:nvPr/>
        </p:nvSpPr>
        <p:spPr>
          <a:xfrm>
            <a:off x="594360" y="4858512"/>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Rolling out a new prompt version to 100% of users at once</a:t>
            </a:r>
            <a:endParaRPr lang="en-US" sz="1600" dirty="0"/>
          </a:p>
        </p:txBody>
      </p:sp>
      <p:sp>
        <p:nvSpPr>
          <p:cNvPr id="13" name="Text 11"/>
          <p:cNvSpPr/>
          <p:nvPr/>
        </p:nvSpPr>
        <p:spPr>
          <a:xfrm>
            <a:off x="1051560" y="5315712"/>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Replacing the Compliance Chatbot's (Batch 3) system prompt for every Batch 3 trainee overnight, with no staged rollout, means a regression is discovered by every user at once instead of by 10% of them first.</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buNone/>
            </a:pPr>
            <a:r>
              <a:rPr lang="en-US" sz="2800" b="1" dirty="0">
                <a:solidFill>
                  <a:srgbClr val="1F3864"/>
                </a:solidFill>
                <a:latin typeface="Cambria" pitchFamily="34" charset="0"/>
                <a:ea typeface="Cambria" pitchFamily="34" charset="-122"/>
                <a:cs typeface="Cambria" pitchFamily="34" charset="-120"/>
              </a:rPr>
              <a:t>Common Pitfalls</a:t>
            </a:r>
            <a:endParaRPr lang="en-US" sz="2800" dirty="0"/>
          </a:p>
        </p:txBody>
      </p:sp>
      <p:sp>
        <p:nvSpPr>
          <p:cNvPr id="3" name="Text 1"/>
          <p:cNvSpPr/>
          <p:nvPr/>
        </p:nvSpPr>
        <p:spPr>
          <a:xfrm>
            <a:off x="548640" y="960120"/>
            <a:ext cx="11064240" cy="411480"/>
          </a:xfrm>
          <a:prstGeom prst="rect">
            <a:avLst/>
          </a:prstGeom>
          <a:noFill/>
          <a:ln/>
        </p:spPr>
        <p:txBody>
          <a:bodyPr wrap="square" rtlCol="0" anchor="ctr"/>
          <a:lstStyle/>
          <a:p>
            <a:pPr marL="0" indent="0">
              <a:buNone/>
            </a:pPr>
            <a:r>
              <a:rPr lang="en-US" sz="1600" i="1" dirty="0">
                <a:solidFill>
                  <a:srgbClr val="5A5A5A"/>
                </a:solidFill>
                <a:latin typeface="Calibri" pitchFamily="34" charset="0"/>
                <a:ea typeface="Calibri" pitchFamily="34" charset="-122"/>
                <a:cs typeface="Calibri" pitchFamily="34" charset="-120"/>
              </a:rPr>
              <a:t>Patterns worth avoiding before Wednesday's self-paced build (cont'd)</a:t>
            </a:r>
            <a:endParaRPr lang="en-US" sz="1600" dirty="0"/>
          </a:p>
        </p:txBody>
      </p:sp>
      <p:sp>
        <p:nvSpPr>
          <p:cNvPr id="4" name="Shape 2"/>
          <p:cNvSpPr/>
          <p:nvPr/>
        </p:nvSpPr>
        <p:spPr>
          <a:xfrm>
            <a:off x="548640" y="1417320"/>
            <a:ext cx="11064240" cy="0"/>
          </a:xfrm>
          <a:prstGeom prst="line">
            <a:avLst/>
          </a:prstGeom>
          <a:noFill/>
          <a:ln w="12700">
            <a:solidFill>
              <a:srgbClr val="E3E3E3"/>
            </a:solidFill>
            <a:prstDash val="solid"/>
          </a:ln>
        </p:spPr>
      </p:sp>
      <p:sp>
        <p:nvSpPr>
          <p:cNvPr id="5" name="Text 3"/>
          <p:cNvSpPr/>
          <p:nvPr/>
        </p:nvSpPr>
        <p:spPr>
          <a:xfrm>
            <a:off x="594360" y="1737360"/>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051560" y="1719072"/>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Treating capacity planning as a one-time sizing exercise</a:t>
            </a:r>
            <a:endParaRPr lang="en-US" sz="1600" dirty="0"/>
          </a:p>
        </p:txBody>
      </p:sp>
      <p:sp>
        <p:nvSpPr>
          <p:cNvPr id="7" name="Text 5"/>
          <p:cNvSpPr/>
          <p:nvPr/>
        </p:nvSpPr>
        <p:spPr>
          <a:xfrm>
            <a:off x="1051560" y="2194560"/>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A renewal-season surge against the Customer Support Chatbot (Batch 4) is a predictable seasonal pattern, not a one-off — capacity planning that isn't revisited before each known surge window is already stale by the time it's needed.</a:t>
            </a:r>
            <a:endParaRPr lang="en-US" sz="1400" dirty="0"/>
          </a:p>
        </p:txBody>
      </p:sp>
      <p:sp>
        <p:nvSpPr>
          <p:cNvPr id="8" name="Text 6"/>
          <p:cNvSpPr/>
          <p:nvPr/>
        </p:nvSpPr>
        <p:spPr>
          <a:xfrm>
            <a:off x="594360" y="3297936"/>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051560" y="3279648"/>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Giving a chatbot's Action tool unchecked write access because confirmation was set once and forgotten</a:t>
            </a:r>
            <a:endParaRPr lang="en-US" sz="1600" dirty="0"/>
          </a:p>
        </p:txBody>
      </p:sp>
      <p:sp>
        <p:nvSpPr>
          <p:cNvPr id="10" name="Text 8"/>
          <p:cNvSpPr/>
          <p:nvPr/>
        </p:nvSpPr>
        <p:spPr>
          <a:xfrm>
            <a:off x="1051560" y="3755136"/>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The confirmation-required setting on EscalateForCoverageRecommendation (Batch 4) is a governance control, not a formality — treating it as checked-and-done rather than periodically reviewed is how an AI-specific write risk goes unnoticed.</a:t>
            </a:r>
            <a:endParaRPr lang="en-US" sz="1400" dirty="0"/>
          </a:p>
        </p:txBody>
      </p:sp>
      <p:sp>
        <p:nvSpPr>
          <p:cNvPr id="11" name="Text 9"/>
          <p:cNvSpPr/>
          <p:nvPr/>
        </p:nvSpPr>
        <p:spPr>
          <a:xfrm>
            <a:off x="594360" y="4858512"/>
            <a:ext cx="411480" cy="384048"/>
          </a:xfrm>
          <a:prstGeom prst="rect">
            <a:avLst/>
          </a:prstGeom>
          <a:noFill/>
          <a:ln/>
        </p:spPr>
        <p:txBody>
          <a:bodyPr wrap="square" rtlCol="0" anchor="ctr"/>
          <a:lstStyle/>
          <a:p>
            <a:pPr marL="0" indent="0">
              <a:buNone/>
            </a:pPr>
            <a:r>
              <a:rPr lang="en-US" sz="1800" dirty="0">
                <a:solidFill>
                  <a:srgbClr val="B08D57"/>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051560" y="4840224"/>
            <a:ext cx="10332720" cy="502920"/>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Assuming audit and compliance can be reconstructed after the fact from memory</a:t>
            </a:r>
            <a:endParaRPr lang="en-US" sz="1600" dirty="0"/>
          </a:p>
        </p:txBody>
      </p:sp>
      <p:sp>
        <p:nvSpPr>
          <p:cNvPr id="13" name="Text 11"/>
          <p:cNvSpPr/>
          <p:nvPr/>
        </p:nvSpPr>
        <p:spPr>
          <a:xfrm>
            <a:off x="1051560" y="5315712"/>
            <a:ext cx="10332720" cy="1011936"/>
          </a:xfrm>
          <a:prstGeom prst="rect">
            <a:avLst/>
          </a:prstGeom>
          <a:noFill/>
          <a:ln/>
        </p:spPr>
        <p:txBody>
          <a:bodyPr wrap="square" rtlCol="0" anchor="ctr"/>
          <a:lstStyle/>
          <a:p>
            <a:pPr marL="0" indent="0">
              <a:lnSpc>
                <a:spcPct val="115000"/>
              </a:lnSpc>
              <a:buNone/>
            </a:pPr>
            <a:r>
              <a:rPr lang="en-US" sz="1400" dirty="0">
                <a:solidFill>
                  <a:srgbClr val="5A5A5A"/>
                </a:solidFill>
                <a:latin typeface="Calibri" pitchFamily="34" charset="0"/>
                <a:ea typeface="Calibri" pitchFamily="34" charset="-122"/>
                <a:cs typeface="Calibri" pitchFamily="34" charset="-120"/>
              </a:rPr>
              <a:t>Tracing why the Fraud Detection Chatbot (Batch 1) called OpenInvestigation on a specific claim depends on Data Lineage and Audit Trails being in place before the question is asked, not after a regulator asks it.</a:t>
            </a:r>
            <a:endParaRPr lang="en-US" sz="14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62447"/>
        </a:solidFill>
        <a:effectLst/>
      </p:bgPr>
    </p:bg>
    <p:spTree>
      <p:nvGrpSpPr>
        <p:cNvPr id="1" name=""/>
        <p:cNvGrpSpPr/>
        <p:nvPr/>
      </p:nvGrpSpPr>
      <p:grpSpPr>
        <a:xfrm>
          <a:off x="0" y="0"/>
          <a:ext cx="0" cy="0"/>
          <a:chOff x="0" y="0"/>
          <a:chExt cx="0" cy="0"/>
        </a:xfrm>
      </p:grpSpPr>
      <p:sp>
        <p:nvSpPr>
          <p:cNvPr id="2" name="Text 0"/>
          <p:cNvSpPr/>
          <p:nvPr/>
        </p:nvSpPr>
        <p:spPr>
          <a:xfrm>
            <a:off x="822960" y="54864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Recap &amp; What's Next</a:t>
            </a:r>
            <a:endParaRPr lang="en-US" sz="2800" dirty="0"/>
          </a:p>
        </p:txBody>
      </p:sp>
      <p:sp>
        <p:nvSpPr>
          <p:cNvPr id="3" name="Text 1"/>
          <p:cNvSpPr/>
          <p:nvPr/>
        </p:nvSpPr>
        <p:spPr>
          <a:xfrm>
            <a:off x="822960" y="1280160"/>
            <a:ext cx="7315200" cy="365760"/>
          </a:xfrm>
          <a:prstGeom prst="rect">
            <a:avLst/>
          </a:prstGeom>
          <a:noFill/>
          <a:ln/>
        </p:spPr>
        <p:txBody>
          <a:bodyPr wrap="square" rtlCol="0" anchor="ctr"/>
          <a:lstStyle/>
          <a:p>
            <a:pPr marL="0" indent="0">
              <a:buNone/>
            </a:pPr>
            <a:r>
              <a:rPr lang="en-US" sz="1450" b="1" dirty="0">
                <a:solidFill>
                  <a:srgbClr val="B08D57"/>
                </a:solidFill>
                <a:latin typeface="Calibri" pitchFamily="34" charset="0"/>
                <a:ea typeface="Calibri" pitchFamily="34" charset="-122"/>
                <a:cs typeface="Calibri" pitchFamily="34" charset="-120"/>
              </a:rPr>
              <a:t>What We Covered Today</a:t>
            </a:r>
            <a:endParaRPr lang="en-US" sz="1450" dirty="0"/>
          </a:p>
        </p:txBody>
      </p:sp>
      <p:sp>
        <p:nvSpPr>
          <p:cNvPr id="4" name="Text 2"/>
          <p:cNvSpPr/>
          <p:nvPr/>
        </p:nvSpPr>
        <p:spPr>
          <a:xfrm>
            <a:off x="914400" y="1691640"/>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Why Day 1's evaluation and observability signal needs an operational and governance response, not just a dashboard</a:t>
            </a:r>
            <a:endParaRPr lang="en-US" sz="1450" dirty="0"/>
          </a:p>
        </p:txBody>
      </p:sp>
      <p:sp>
        <p:nvSpPr>
          <p:cNvPr id="5" name="Text 3"/>
          <p:cNvSpPr/>
          <p:nvPr/>
        </p:nvSpPr>
        <p:spPr>
          <a:xfrm>
            <a:off x="914400" y="2084832"/>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Drift monitoring — catching an output-quality shift with no code change to point to</a:t>
            </a:r>
            <a:endParaRPr lang="en-US" sz="1450" dirty="0"/>
          </a:p>
        </p:txBody>
      </p:sp>
      <p:sp>
        <p:nvSpPr>
          <p:cNvPr id="6" name="Text 4"/>
          <p:cNvSpPr/>
          <p:nvPr/>
        </p:nvSpPr>
        <p:spPr>
          <a:xfrm>
            <a:off x="914400" y="2478024"/>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Cost management — tracking token and per-call cost as a discipline your team establishes</a:t>
            </a:r>
            <a:endParaRPr lang="en-US" sz="1450" dirty="0"/>
          </a:p>
        </p:txBody>
      </p:sp>
      <p:sp>
        <p:nvSpPr>
          <p:cNvPr id="7" name="Text 5"/>
          <p:cNvSpPr/>
          <p:nvPr/>
        </p:nvSpPr>
        <p:spPr>
          <a:xfrm>
            <a:off x="914400" y="2871216"/>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Release strategy — staged rollout for a changed prompt or model, the LLMOps equivalent of blue/green</a:t>
            </a:r>
            <a:endParaRPr lang="en-US" sz="1450" dirty="0"/>
          </a:p>
        </p:txBody>
      </p:sp>
      <p:sp>
        <p:nvSpPr>
          <p:cNvPr id="8" name="Text 6"/>
          <p:cNvSpPr/>
          <p:nvPr/>
        </p:nvSpPr>
        <p:spPr>
          <a:xfrm>
            <a:off x="914400" y="3264408"/>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Capacity planning — anticipating a traffic or load spike before it arrives</a:t>
            </a:r>
            <a:endParaRPr lang="en-US" sz="1450" dirty="0"/>
          </a:p>
        </p:txBody>
      </p:sp>
      <p:sp>
        <p:nvSpPr>
          <p:cNvPr id="9" name="Text 7"/>
          <p:cNvSpPr/>
          <p:nvPr/>
        </p:nvSpPr>
        <p:spPr>
          <a:xfrm>
            <a:off x="914400" y="3657600"/>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AI governance and responsible AI — applying Foundry's Roles, Markings, and Security Policies to AI-specific risks</a:t>
            </a:r>
            <a:endParaRPr lang="en-US" sz="1450" dirty="0"/>
          </a:p>
        </p:txBody>
      </p:sp>
      <p:sp>
        <p:nvSpPr>
          <p:cNvPr id="10" name="Text 8"/>
          <p:cNvSpPr/>
          <p:nvPr/>
        </p:nvSpPr>
        <p:spPr>
          <a:xfrm>
            <a:off x="914400" y="4050792"/>
            <a:ext cx="9875520" cy="347472"/>
          </a:xfrm>
          <a:prstGeom prst="rect">
            <a:avLst/>
          </a:prstGeom>
          <a:noFill/>
          <a:ln/>
        </p:spPr>
        <p:txBody>
          <a:bodyPr wrap="square" rtlCol="0" anchor="ctr"/>
          <a:lstStyle/>
          <a:p>
            <a:pPr marL="0" indent="0">
              <a:buNone/>
            </a:pPr>
            <a:r>
              <a:rPr lang="en-US" sz="1450" dirty="0">
                <a:solidFill>
                  <a:srgbClr val="E8ECF5"/>
                </a:solidFill>
                <a:latin typeface="Calibri" pitchFamily="34" charset="0"/>
                <a:ea typeface="Calibri" pitchFamily="34" charset="-122"/>
                <a:cs typeface="Calibri" pitchFamily="34" charset="-120"/>
              </a:rPr>
              <a:t>•  Audit and compliance — using Foundry's Data Lineage and Audit Trails to trace exactly why a chatbot acted</a:t>
            </a:r>
            <a:endParaRPr lang="en-US" sz="1450" dirty="0"/>
          </a:p>
        </p:txBody>
      </p:sp>
      <p:sp>
        <p:nvSpPr>
          <p:cNvPr id="11" name="Shape 9"/>
          <p:cNvSpPr/>
          <p:nvPr/>
        </p:nvSpPr>
        <p:spPr>
          <a:xfrm>
            <a:off x="822960" y="4517136"/>
            <a:ext cx="10332720" cy="0"/>
          </a:xfrm>
          <a:prstGeom prst="line">
            <a:avLst/>
          </a:prstGeom>
          <a:noFill/>
          <a:ln w="12700">
            <a:solidFill>
              <a:srgbClr val="34477A"/>
            </a:solidFill>
            <a:prstDash val="solid"/>
          </a:ln>
        </p:spPr>
      </p:sp>
      <p:sp>
        <p:nvSpPr>
          <p:cNvPr id="12" name="Text 10"/>
          <p:cNvSpPr/>
          <p:nvPr/>
        </p:nvSpPr>
        <p:spPr>
          <a:xfrm>
            <a:off x="822960" y="4700016"/>
            <a:ext cx="10332720" cy="411480"/>
          </a:xfrm>
          <a:prstGeom prst="rect">
            <a:avLst/>
          </a:prstGeom>
          <a:noFill/>
          <a:ln/>
        </p:spPr>
        <p:txBody>
          <a:bodyPr wrap="square" rtlCol="0" anchor="ctr"/>
          <a:lstStyle/>
          <a:p>
            <a:pPr marL="0" indent="0">
              <a:buNone/>
            </a:pPr>
            <a:r>
              <a:rPr lang="en-US" sz="1700" b="1" dirty="0">
                <a:solidFill>
                  <a:srgbClr val="2E8B8B"/>
                </a:solidFill>
                <a:latin typeface="Cambria" pitchFamily="34" charset="0"/>
                <a:ea typeface="Cambria" pitchFamily="34" charset="-122"/>
                <a:cs typeface="Cambria" pitchFamily="34" charset="-120"/>
              </a:rPr>
              <a:t>Week 6 Deliverable — The Production Readiness Package</a:t>
            </a:r>
            <a:endParaRPr lang="en-US" sz="1700" dirty="0"/>
          </a:p>
        </p:txBody>
      </p:sp>
      <p:sp>
        <p:nvSpPr>
          <p:cNvPr id="13" name="Text 11"/>
          <p:cNvSpPr/>
          <p:nvPr/>
        </p:nvSpPr>
        <p:spPr>
          <a:xfrm>
            <a:off x="822960" y="5102352"/>
            <a:ext cx="10332720" cy="411480"/>
          </a:xfrm>
          <a:prstGeom prst="rect">
            <a:avLst/>
          </a:prstGeom>
          <a:noFill/>
          <a:ln/>
        </p:spPr>
        <p:txBody>
          <a:bodyPr wrap="square" rtlCol="0" anchor="ctr"/>
          <a:lstStyle/>
          <a:p>
            <a:pPr marL="0" indent="0">
              <a:buNone/>
            </a:pPr>
            <a:r>
              <a:rPr lang="en-US" sz="1300" dirty="0">
                <a:solidFill>
                  <a:srgbClr val="9AA0A6"/>
                </a:solidFill>
                <a:latin typeface="Calibri" pitchFamily="34" charset="0"/>
                <a:ea typeface="Calibri" pitchFamily="34" charset="-122"/>
                <a:cs typeface="Calibri" pitchFamily="34" charset="-120"/>
              </a:rPr>
              <a:t>Day 3 — Self-paced build: an evaluation suite, an observability dashboard, and a release plan for one of your own functions or chatbots</a:t>
            </a:r>
            <a:endParaRPr lang="en-US" sz="1300" dirty="0"/>
          </a:p>
        </p:txBody>
      </p:sp>
      <p:sp>
        <p:nvSpPr>
          <p:cNvPr id="14" name="Text 12"/>
          <p:cNvSpPr/>
          <p:nvPr/>
        </p:nvSpPr>
        <p:spPr>
          <a:xfrm>
            <a:off x="457200" y="6537960"/>
            <a:ext cx="8686800" cy="274320"/>
          </a:xfrm>
          <a:prstGeom prst="rect">
            <a:avLst/>
          </a:prstGeom>
          <a:noFill/>
          <a:ln/>
        </p:spPr>
        <p:txBody>
          <a:bodyPr wrap="square" rtlCol="0" anchor="ctr"/>
          <a:lstStyle/>
          <a:p>
            <a:pPr marL="0" indent="0">
              <a:buNone/>
            </a:pPr>
            <a:r>
              <a:rPr lang="en-US" sz="900" dirty="0">
                <a:solidFill>
                  <a:srgbClr val="9AA0A6"/>
                </a:solidFill>
                <a:latin typeface="Calibri" pitchFamily="34" charset="0"/>
                <a:ea typeface="Calibri" pitchFamily="34" charset="-122"/>
                <a:cs typeface="Calibri" pitchFamily="34" charset="-120"/>
              </a:rPr>
              <a:t>Week 6 · Day 2 — Drift, Cost, Release, Capacity, Governance &amp; Compliance</a:t>
            </a:r>
            <a:endParaRPr lang="en-US" sz="900" dirty="0"/>
          </a:p>
        </p:txBody>
      </p:sp>
      <p:sp>
        <p:nvSpPr>
          <p:cNvPr id="15" name="Text 1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9AA0A6"/>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6570</Words>
  <Application>Microsoft Office PowerPoint</Application>
  <PresentationFormat>Widescreen</PresentationFormat>
  <Paragraphs>480</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Rajesh Pasham</cp:lastModifiedBy>
  <cp:revision>1</cp:revision>
  <dcterms:created xsi:type="dcterms:W3CDTF">2026-10-04T06:16:10Z</dcterms:created>
  <dcterms:modified xsi:type="dcterms:W3CDTF">2026-10-04T06:28:35Z</dcterms:modified>
</cp:coreProperties>
</file>